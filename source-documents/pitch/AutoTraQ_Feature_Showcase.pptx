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1999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AutoTraQ Feature Showcase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A browser-based inventory command center for automotive parts teams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566928" y="1965960"/>
            <a:ext cx="475488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4200" b="1">
                <a:solidFill>
                  <a:srgbClr val="F59E0B"/>
                </a:solidFill>
                <a:latin typeface="Aptos"/>
              </a:rPr>
              <a:t>100+</a:t>
            </a:r>
            <a:endParaRPr lang="en-US" sz="4200"/>
          </a:p>
          <a:p>
            <a:pPr algn="l"/>
            <a:r>
              <a:rPr lang="en-US" sz="4200" b="1">
                <a:solidFill>
                  <a:srgbClr val="F59E0B"/>
                </a:solidFill>
                <a:latin typeface="Aptos"/>
              </a:rPr>
              <a:t>practical features</a:t>
            </a:r>
            <a:endParaRPr lang="en-US" sz="4200"/>
          </a:p>
        </p:txBody>
      </p:sp>
      <p:sp>
        <p:nvSpPr>
          <p:cNvPr id="7" name="Shape 7"/>
          <p:cNvSpPr txBox="1"/>
          <p:nvPr/>
        </p:nvSpPr>
        <p:spPr>
          <a:xfrm>
            <a:off x="603504" y="321868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>
                <a:solidFill>
                  <a:srgbClr val="F8FAFC"/>
                </a:solidFill>
                <a:latin typeface="Aptos"/>
              </a:rPr>
              <a:t>Inventory, fitment, barcode scanning, requests, alerts, audit logs, reports, and admin controls in one shared web platform.</a:t>
            </a:r>
            <a:endParaRPr lang="en-US" sz="1800"/>
          </a:p>
        </p:txBody>
      </p:sp>
      <p:sp>
        <p:nvSpPr>
          <p:cNvPr id="8" name="Shape 8"/>
          <p:cNvSpPr txBox="1"/>
          <p:nvPr/>
        </p:nvSpPr>
        <p:spPr>
          <a:xfrm>
            <a:off x="6537960" y="1444752"/>
            <a:ext cx="4526280" cy="3566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812280" y="17556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000" b="1">
                <a:solidFill>
                  <a:srgbClr val="94A3B8"/>
                </a:solidFill>
                <a:latin typeface="Aptos"/>
              </a:rPr>
              <a:t>LIVE PRODUCT AREAS</a:t>
            </a:r>
            <a:endParaRPr lang="en-US" sz="1000"/>
          </a:p>
        </p:txBody>
      </p:sp>
      <p:sp>
        <p:nvSpPr>
          <p:cNvPr id="10" name="Shape 10"/>
          <p:cNvSpPr txBox="1"/>
          <p:nvPr/>
        </p:nvSpPr>
        <p:spPr>
          <a:xfrm>
            <a:off x="6812280" y="2212848"/>
            <a:ext cx="17373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59E0B"/>
                </a:solidFill>
                <a:latin typeface="Aptos"/>
              </a:rPr>
              <a:t>Parts Catalog</a:t>
            </a:r>
            <a:endParaRPr lang="en-US" sz="1100"/>
          </a:p>
        </p:txBody>
      </p:sp>
      <p:sp>
        <p:nvSpPr>
          <p:cNvPr id="11" name="Shape 11"/>
          <p:cNvSpPr txBox="1"/>
          <p:nvPr/>
        </p:nvSpPr>
        <p:spPr>
          <a:xfrm>
            <a:off x="8732520" y="2212848"/>
            <a:ext cx="178308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38BDF8"/>
                </a:solidFill>
                <a:latin typeface="Aptos"/>
              </a:rPr>
              <a:t>Vehicle Fitment</a:t>
            </a:r>
            <a:endParaRPr lang="en-US" sz="1100"/>
          </a:p>
        </p:txBody>
      </p:sp>
      <p:sp>
        <p:nvSpPr>
          <p:cNvPr id="12" name="Shape 12"/>
          <p:cNvSpPr txBox="1"/>
          <p:nvPr/>
        </p:nvSpPr>
        <p:spPr>
          <a:xfrm>
            <a:off x="6812280" y="2743200"/>
            <a:ext cx="1874519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0B981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10B981"/>
                </a:solidFill>
                <a:latin typeface="Aptos"/>
              </a:rPr>
              <a:t>Inventory Ledger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8869680" y="2743200"/>
            <a:ext cx="16459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A78BFA"/>
                </a:solidFill>
                <a:latin typeface="Aptos"/>
              </a:rPr>
              <a:t>Barcode Scan</a:t>
            </a:r>
            <a:endParaRPr lang="en-US" sz="1100"/>
          </a:p>
        </p:txBody>
      </p:sp>
      <p:sp>
        <p:nvSpPr>
          <p:cNvPr id="14" name="Shape 14"/>
          <p:cNvSpPr txBox="1"/>
          <p:nvPr/>
        </p:nvSpPr>
        <p:spPr>
          <a:xfrm>
            <a:off x="6812280" y="3273552"/>
            <a:ext cx="14173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2D3EE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22D3EE"/>
                </a:solidFill>
                <a:latin typeface="Aptos"/>
              </a:rPr>
              <a:t>Requests</a:t>
            </a:r>
            <a:endParaRPr lang="en-US" sz="1100"/>
          </a:p>
        </p:txBody>
      </p:sp>
      <p:sp>
        <p:nvSpPr>
          <p:cNvPr id="15" name="Shape 15"/>
          <p:cNvSpPr txBox="1"/>
          <p:nvPr/>
        </p:nvSpPr>
        <p:spPr>
          <a:xfrm>
            <a:off x="8412480" y="3273552"/>
            <a:ext cx="146304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EF4444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EF4444"/>
                </a:solidFill>
                <a:latin typeface="Aptos"/>
              </a:rPr>
              <a:t>Audit Logs</a:t>
            </a:r>
            <a:endParaRPr lang="en-US" sz="1100"/>
          </a:p>
        </p:txBody>
      </p:sp>
      <p:sp>
        <p:nvSpPr>
          <p:cNvPr id="16" name="Shape 16"/>
          <p:cNvSpPr txBox="1"/>
          <p:nvPr/>
        </p:nvSpPr>
        <p:spPr>
          <a:xfrm>
            <a:off x="6812280" y="3803904"/>
            <a:ext cx="214884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BBF24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BBF24"/>
                </a:solidFill>
                <a:latin typeface="Aptos"/>
              </a:rPr>
              <a:t>Reorder Intelligence</a:t>
            </a:r>
            <a:endParaRPr lang="en-US" sz="1100"/>
          </a:p>
        </p:txBody>
      </p:sp>
      <p:sp>
        <p:nvSpPr>
          <p:cNvPr id="17" name="Shape 17"/>
          <p:cNvSpPr txBox="1"/>
          <p:nvPr/>
        </p:nvSpPr>
        <p:spPr>
          <a:xfrm>
            <a:off x="9125712" y="3803904"/>
            <a:ext cx="114300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38BDF8"/>
                </a:solidFill>
                <a:latin typeface="Aptos"/>
              </a:rPr>
              <a:t>Reports</a:t>
            </a:r>
            <a:endParaRPr lang="en-US" sz="1100"/>
          </a:p>
        </p:txBody>
      </p:sp>
      <p:sp>
        <p:nvSpPr>
          <p:cNvPr id="18" name="Shape 18"/>
          <p:cNvSpPr txBox="1"/>
          <p:nvPr/>
        </p:nvSpPr>
        <p:spPr>
          <a:xfrm>
            <a:off x="603504" y="6108192"/>
            <a:ext cx="67665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100">
                <a:solidFill>
                  <a:srgbClr val="94A3B8"/>
                </a:solidFill>
                <a:latin typeface="Aptos"/>
              </a:rPr>
              <a:t>Built for web production: one URL, one database, every team member on the same current version.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Why Web Production Wins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The product is stronger as a hosted web app than as a copied desktop installer.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731520" y="196596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800" b="1">
                <a:solidFill>
                  <a:srgbClr val="F59E0B"/>
                </a:solidFill>
                <a:latin typeface="Aptos"/>
              </a:rPr>
              <a:t>No installers</a:t>
            </a:r>
            <a:endParaRPr lang="en-US" sz="2800"/>
          </a:p>
        </p:txBody>
      </p:sp>
      <p:sp>
        <p:nvSpPr>
          <p:cNvPr id="7" name="Shape 7"/>
          <p:cNvSpPr txBox="1"/>
          <p:nvPr/>
        </p:nvSpPr>
        <p:spPr>
          <a:xfrm>
            <a:off x="749808" y="2514600"/>
            <a:ext cx="246888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>
                <a:solidFill>
                  <a:srgbClr val="F8FAFC"/>
                </a:solidFill>
                <a:latin typeface="Aptos"/>
              </a:rPr>
              <a:t>Clients open a URL, log in, and work from any approved browser.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4160520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800" b="1">
                <a:solidFill>
                  <a:srgbClr val="10B981"/>
                </a:solidFill>
                <a:latin typeface="Aptos"/>
              </a:rPr>
              <a:t>One source of truth</a:t>
            </a:r>
            <a:endParaRPr lang="en-US" sz="2800"/>
          </a:p>
        </p:txBody>
      </p:sp>
      <p:sp>
        <p:nvSpPr>
          <p:cNvPr id="9" name="Shape 9"/>
          <p:cNvSpPr txBox="1"/>
          <p:nvPr/>
        </p:nvSpPr>
        <p:spPr>
          <a:xfrm>
            <a:off x="4178808" y="2514600"/>
            <a:ext cx="26060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>
                <a:solidFill>
                  <a:srgbClr val="F8FAFC"/>
                </a:solidFill>
                <a:latin typeface="Aptos"/>
              </a:rPr>
              <a:t>Inventory, users, scans, and requests all share the same production database.</a:t>
            </a:r>
            <a:endParaRPr lang="en-US" sz="1700"/>
          </a:p>
        </p:txBody>
      </p:sp>
      <p:sp>
        <p:nvSpPr>
          <p:cNvPr id="10" name="Shape 10"/>
          <p:cNvSpPr txBox="1"/>
          <p:nvPr/>
        </p:nvSpPr>
        <p:spPr>
          <a:xfrm>
            <a:off x="7772400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800" b="1">
                <a:solidFill>
                  <a:srgbClr val="38BDF8"/>
                </a:solidFill>
                <a:latin typeface="Aptos"/>
              </a:rPr>
              <a:t>Instant updates</a:t>
            </a:r>
            <a:endParaRPr lang="en-US" sz="2800"/>
          </a:p>
        </p:txBody>
      </p:sp>
      <p:sp>
        <p:nvSpPr>
          <p:cNvPr id="11" name="Shape 11"/>
          <p:cNvSpPr txBox="1"/>
          <p:nvPr/>
        </p:nvSpPr>
        <p:spPr>
          <a:xfrm>
            <a:off x="7790688" y="2514600"/>
            <a:ext cx="26060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>
                <a:solidFill>
                  <a:srgbClr val="F8FAFC"/>
                </a:solidFill>
                <a:latin typeface="Aptos"/>
              </a:rPr>
              <a:t>Deploy once; every client computer gets the current version automatically.</a:t>
            </a:r>
            <a:endParaRPr lang="en-US" sz="1700"/>
          </a:p>
        </p:txBody>
      </p:sp>
      <p:sp>
        <p:nvSpPr>
          <p:cNvPr id="12" name="Shape 12"/>
          <p:cNvSpPr txBox="1"/>
          <p:nvPr/>
        </p:nvSpPr>
        <p:spPr>
          <a:xfrm>
            <a:off x="658368" y="4389120"/>
            <a:ext cx="1088136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3" name="Shape 13"/>
          <p:cNvSpPr txBox="1"/>
          <p:nvPr/>
        </p:nvSpPr>
        <p:spPr>
          <a:xfrm>
            <a:off x="960120" y="48006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400" b="1">
                <a:solidFill>
                  <a:srgbClr val="F8FAFC"/>
                </a:solidFill>
                <a:latin typeface="Aptos"/>
              </a:rPr>
              <a:t>Client onboarding becomes simple: account + website URL + role.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The Platform in One View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AutoTraQ connects the core operations a parts team repeats every day.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4434840" y="2057400"/>
            <a:ext cx="3337560" cy="11430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4681728" y="23317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400" b="1">
                <a:solidFill>
                  <a:srgbClr val="F59E0B"/>
                </a:solidFill>
                <a:latin typeface="Aptos"/>
              </a:rPr>
              <a:t>AutoTraQ Web App</a:t>
            </a:r>
            <a:endParaRPr lang="en-US" sz="2400"/>
          </a:p>
        </p:txBody>
      </p:sp>
      <p:sp>
        <p:nvSpPr>
          <p:cNvPr id="8" name="Shape 8"/>
          <p:cNvSpPr txBox="1"/>
          <p:nvPr/>
        </p:nvSpPr>
        <p:spPr>
          <a:xfrm>
            <a:off x="4736592" y="27706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100">
                <a:solidFill>
                  <a:srgbClr val="94A3B8"/>
                </a:solidFill>
                <a:latin typeface="Aptos"/>
              </a:rPr>
              <a:t>shared browser workspace</a:t>
            </a:r>
            <a:endParaRPr lang="en-US" sz="1100"/>
          </a:p>
        </p:txBody>
      </p:sp>
      <p:sp>
        <p:nvSpPr>
          <p:cNvPr id="9" name="Shape 9"/>
          <p:cNvSpPr txBox="1"/>
          <p:nvPr/>
        </p:nvSpPr>
        <p:spPr>
          <a:xfrm>
            <a:off x="777240" y="1417320"/>
            <a:ext cx="21945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59E0B"/>
                </a:solidFill>
                <a:latin typeface="Aptos"/>
              </a:rPr>
              <a:t>Parts + Images</a:t>
            </a:r>
            <a:endParaRPr lang="en-US" sz="1100"/>
          </a:p>
        </p:txBody>
      </p:sp>
      <p:sp>
        <p:nvSpPr>
          <p:cNvPr id="10" name="Shape 10"/>
          <p:cNvSpPr txBox="1"/>
          <p:nvPr/>
        </p:nvSpPr>
        <p:spPr>
          <a:xfrm>
            <a:off x="777240" y="2331720"/>
            <a:ext cx="21945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38BDF8"/>
                </a:solidFill>
                <a:latin typeface="Aptos"/>
              </a:rPr>
              <a:t>Vehicle Fitment</a:t>
            </a:r>
            <a:endParaRPr lang="en-US" sz="1100"/>
          </a:p>
        </p:txBody>
      </p:sp>
      <p:sp>
        <p:nvSpPr>
          <p:cNvPr id="11" name="Shape 11"/>
          <p:cNvSpPr txBox="1"/>
          <p:nvPr/>
        </p:nvSpPr>
        <p:spPr>
          <a:xfrm>
            <a:off x="777240" y="3246120"/>
            <a:ext cx="21945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A78BFA"/>
                </a:solidFill>
                <a:latin typeface="Aptos"/>
              </a:rPr>
              <a:t>Interchange</a:t>
            </a:r>
            <a:endParaRPr lang="en-US" sz="1100"/>
          </a:p>
        </p:txBody>
      </p:sp>
      <p:sp>
        <p:nvSpPr>
          <p:cNvPr id="12" name="Shape 12"/>
          <p:cNvSpPr txBox="1"/>
          <p:nvPr/>
        </p:nvSpPr>
        <p:spPr>
          <a:xfrm>
            <a:off x="9144000" y="1417320"/>
            <a:ext cx="21945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0B981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10B981"/>
                </a:solidFill>
                <a:latin typeface="Aptos"/>
              </a:rPr>
              <a:t>Inventory Events</a:t>
            </a:r>
            <a:endParaRPr lang="en-US" sz="1100"/>
          </a:p>
        </p:txBody>
      </p:sp>
      <p:sp>
        <p:nvSpPr>
          <p:cNvPr id="13" name="Shape 13"/>
          <p:cNvSpPr txBox="1"/>
          <p:nvPr/>
        </p:nvSpPr>
        <p:spPr>
          <a:xfrm>
            <a:off x="9144000" y="2331720"/>
            <a:ext cx="21945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22D3EE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22D3EE"/>
                </a:solidFill>
                <a:latin typeface="Aptos"/>
              </a:rPr>
              <a:t>Requests</a:t>
            </a:r>
            <a:endParaRPr lang="en-US" sz="1100"/>
          </a:p>
        </p:txBody>
      </p:sp>
      <p:sp>
        <p:nvSpPr>
          <p:cNvPr id="14" name="Shape 14"/>
          <p:cNvSpPr txBox="1"/>
          <p:nvPr/>
        </p:nvSpPr>
        <p:spPr>
          <a:xfrm>
            <a:off x="9144000" y="3246120"/>
            <a:ext cx="21945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BBF24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BBF24"/>
                </a:solidFill>
                <a:latin typeface="Aptos"/>
              </a:rPr>
              <a:t>Reports + CSV</a:t>
            </a:r>
            <a:endParaRPr lang="en-US" sz="1100"/>
          </a:p>
        </p:txBody>
      </p:sp>
      <p:sp>
        <p:nvSpPr>
          <p:cNvPr id="15" name="Shape 15"/>
          <p:cNvSpPr txBox="1"/>
          <p:nvPr/>
        </p:nvSpPr>
        <p:spPr>
          <a:xfrm>
            <a:off x="4983480" y="4754880"/>
            <a:ext cx="30175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EF4444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EF4444"/>
                </a:solidFill>
                <a:latin typeface="Aptos"/>
              </a:rPr>
              <a:t>Auth • Roles • Audit • Notifications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Parts Catalog + Vehicle Fitment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The catalog is built around real automotive lookup needs, not generic warehouse items.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749808" y="18288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Aptos"/>
              </a:rPr>
              <a:t>Every part carries the details that matter</a:t>
            </a:r>
            <a:endParaRPr lang="en-US" sz="2400"/>
          </a:p>
        </p:txBody>
      </p:sp>
      <p:sp>
        <p:nvSpPr>
          <p:cNvPr id="7" name="Shape 7"/>
          <p:cNvSpPr txBox="1"/>
          <p:nvPr/>
        </p:nvSpPr>
        <p:spPr>
          <a:xfrm>
            <a:off x="777240" y="2542032"/>
            <a:ext cx="420624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000">
                <a:solidFill>
                  <a:srgbClr val="F8FAFC"/>
                </a:solidFill>
                <a:latin typeface="Aptos"/>
              </a:rPr>
              <a:t>SKU, name, condition, min stock, cost, retail price, OEM flag, part type, barcode data, images, and vehicle compatibility.</a:t>
            </a:r>
            <a:endParaRPr lang="en-US" sz="2000"/>
          </a:p>
        </p:txBody>
      </p:sp>
      <p:sp>
        <p:nvSpPr>
          <p:cNvPr id="8" name="Shape 8"/>
          <p:cNvSpPr txBox="1"/>
          <p:nvPr/>
        </p:nvSpPr>
        <p:spPr>
          <a:xfrm>
            <a:off x="5806440" y="1600200"/>
            <a:ext cx="4983480" cy="36118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6144768" y="193852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 b="1">
                <a:solidFill>
                  <a:srgbClr val="F59E0B"/>
                </a:solidFill>
                <a:latin typeface="Aptos"/>
              </a:rPr>
              <a:t>Example Part Detail</a:t>
            </a:r>
            <a:endParaRPr lang="en-US" sz="1700"/>
          </a:p>
        </p:txBody>
      </p:sp>
      <p:sp>
        <p:nvSpPr>
          <p:cNvPr id="10" name="Shape 10"/>
          <p:cNvSpPr txBox="1"/>
          <p:nvPr/>
        </p:nvSpPr>
        <p:spPr>
          <a:xfrm>
            <a:off x="6144768" y="251460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94A3B8"/>
                </a:solidFill>
                <a:latin typeface="Aptos"/>
              </a:rPr>
              <a:t>SKU</a:t>
            </a:r>
            <a:endParaRPr lang="en-US" sz="900"/>
          </a:p>
        </p:txBody>
      </p:sp>
      <p:sp>
        <p:nvSpPr>
          <p:cNvPr id="11" name="Shape 11"/>
          <p:cNvSpPr txBox="1"/>
          <p:nvPr/>
        </p:nvSpPr>
        <p:spPr>
          <a:xfrm>
            <a:off x="7360920" y="251460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300" b="1">
                <a:solidFill>
                  <a:srgbClr val="F8FAFC"/>
                </a:solidFill>
                <a:latin typeface="Aptos"/>
              </a:rPr>
              <a:t>BRK-001</a:t>
            </a:r>
            <a:endParaRPr lang="en-US" sz="1300"/>
          </a:p>
        </p:txBody>
      </p:sp>
      <p:sp>
        <p:nvSpPr>
          <p:cNvPr id="12" name="Shape 12"/>
          <p:cNvSpPr txBox="1"/>
          <p:nvPr/>
        </p:nvSpPr>
        <p:spPr>
          <a:xfrm>
            <a:off x="6144768" y="292608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94A3B8"/>
                </a:solidFill>
                <a:latin typeface="Aptos"/>
              </a:rPr>
              <a:t>Condition</a:t>
            </a:r>
            <a:endParaRPr lang="en-US" sz="900"/>
          </a:p>
        </p:txBody>
      </p:sp>
      <p:sp>
        <p:nvSpPr>
          <p:cNvPr id="13" name="Shape 13"/>
          <p:cNvSpPr txBox="1"/>
          <p:nvPr/>
        </p:nvSpPr>
        <p:spPr>
          <a:xfrm>
            <a:off x="7360920" y="292608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300" b="1">
                <a:solidFill>
                  <a:srgbClr val="10B981"/>
                </a:solidFill>
                <a:latin typeface="Aptos"/>
              </a:rPr>
              <a:t>GOOD</a:t>
            </a:r>
            <a:endParaRPr lang="en-US" sz="1300"/>
          </a:p>
        </p:txBody>
      </p:sp>
      <p:sp>
        <p:nvSpPr>
          <p:cNvPr id="14" name="Shape 14"/>
          <p:cNvSpPr txBox="1"/>
          <p:nvPr/>
        </p:nvSpPr>
        <p:spPr>
          <a:xfrm>
            <a:off x="6144768" y="333756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94A3B8"/>
                </a:solidFill>
                <a:latin typeface="Aptos"/>
              </a:rPr>
              <a:t>Fits</a:t>
            </a:r>
            <a:endParaRPr lang="en-US" sz="900"/>
          </a:p>
        </p:txBody>
      </p:sp>
      <p:sp>
        <p:nvSpPr>
          <p:cNvPr id="15" name="Shape 15"/>
          <p:cNvSpPr txBox="1"/>
          <p:nvPr/>
        </p:nvSpPr>
        <p:spPr>
          <a:xfrm>
            <a:off x="7360920" y="3337560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300" b="1">
                <a:solidFill>
                  <a:srgbClr val="38BDF8"/>
                </a:solidFill>
                <a:latin typeface="Aptos"/>
              </a:rPr>
              <a:t>2000 Honda Civic EX</a:t>
            </a:r>
            <a:endParaRPr lang="en-US" sz="1300"/>
          </a:p>
        </p:txBody>
      </p:sp>
      <p:sp>
        <p:nvSpPr>
          <p:cNvPr id="16" name="Shape 16"/>
          <p:cNvSpPr txBox="1"/>
          <p:nvPr/>
        </p:nvSpPr>
        <p:spPr>
          <a:xfrm>
            <a:off x="6144768" y="3749039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94A3B8"/>
                </a:solidFill>
                <a:latin typeface="Aptos"/>
              </a:rPr>
              <a:t>Barcode</a:t>
            </a:r>
            <a:endParaRPr lang="en-US" sz="900"/>
          </a:p>
        </p:txBody>
      </p:sp>
      <p:sp>
        <p:nvSpPr>
          <p:cNvPr id="17" name="Shape 17"/>
          <p:cNvSpPr txBox="1"/>
          <p:nvPr/>
        </p:nvSpPr>
        <p:spPr>
          <a:xfrm>
            <a:off x="7360920" y="3685032"/>
            <a:ext cx="2377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600" b="1">
                <a:solidFill>
                  <a:srgbClr val="0B1120"/>
                </a:solidFill>
                <a:latin typeface="Aptos"/>
              </a:rPr>
              <a:t>|||| ||| |||||</a:t>
            </a:r>
            <a:endParaRPr lang="en-US" sz="1600"/>
          </a:p>
        </p:txBody>
      </p:sp>
      <p:sp>
        <p:nvSpPr>
          <p:cNvPr id="18" name="Shape 18"/>
          <p:cNvSpPr txBox="1"/>
          <p:nvPr/>
        </p:nvSpPr>
        <p:spPr>
          <a:xfrm>
            <a:off x="6144768" y="427939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300">
                <a:solidFill>
                  <a:srgbClr val="94A3B8"/>
                </a:solidFill>
                <a:latin typeface="Aptos"/>
              </a:rPr>
              <a:t>Inline editing, image gallery, stock add, fitment attach, and interchange membership.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Inventory Movement Is Traceable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Stock is not just overwritten. AutoTraQ records inventory as events.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1005840" y="2057400"/>
            <a:ext cx="15087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0B981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10B981"/>
                </a:solidFill>
                <a:latin typeface="Aptos"/>
              </a:rPr>
              <a:t>Receive</a:t>
            </a:r>
            <a:endParaRPr lang="en-US" sz="1100"/>
          </a:p>
        </p:txBody>
      </p:sp>
      <p:sp>
        <p:nvSpPr>
          <p:cNvPr id="7" name="Shape 7"/>
          <p:cNvSpPr txBox="1"/>
          <p:nvPr/>
        </p:nvSpPr>
        <p:spPr>
          <a:xfrm>
            <a:off x="3063240" y="2057400"/>
            <a:ext cx="15087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59E0B"/>
                </a:solidFill>
                <a:latin typeface="Aptos"/>
              </a:rPr>
              <a:t>Fulfill</a:t>
            </a:r>
            <a:endParaRPr lang="en-US" sz="1100"/>
          </a:p>
        </p:txBody>
      </p:sp>
      <p:sp>
        <p:nvSpPr>
          <p:cNvPr id="8" name="Shape 8"/>
          <p:cNvSpPr txBox="1"/>
          <p:nvPr/>
        </p:nvSpPr>
        <p:spPr>
          <a:xfrm>
            <a:off x="5120640" y="2057400"/>
            <a:ext cx="15087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38BDF8"/>
                </a:solidFill>
                <a:latin typeface="Aptos"/>
              </a:rPr>
              <a:t>Return</a:t>
            </a:r>
            <a:endParaRPr lang="en-US" sz="1100"/>
          </a:p>
        </p:txBody>
      </p:sp>
      <p:sp>
        <p:nvSpPr>
          <p:cNvPr id="9" name="Shape 9"/>
          <p:cNvSpPr txBox="1"/>
          <p:nvPr/>
        </p:nvSpPr>
        <p:spPr>
          <a:xfrm>
            <a:off x="7178040" y="2057400"/>
            <a:ext cx="150876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A78BFA"/>
                </a:solidFill>
                <a:latin typeface="Aptos"/>
              </a:rPr>
              <a:t>Correct</a:t>
            </a:r>
            <a:endParaRPr lang="en-US" sz="1100"/>
          </a:p>
        </p:txBody>
      </p:sp>
      <p:sp>
        <p:nvSpPr>
          <p:cNvPr id="10" name="Shape 10"/>
          <p:cNvSpPr txBox="1"/>
          <p:nvPr/>
        </p:nvSpPr>
        <p:spPr>
          <a:xfrm>
            <a:off x="1005840" y="2971800"/>
            <a:ext cx="7955279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400" b="1">
                <a:solidFill>
                  <a:srgbClr val="F8FAFC"/>
                </a:solidFill>
                <a:latin typeface="Aptos"/>
              </a:rPr>
              <a:t>Each action creates an inventory event with part, location, quantity change, user, timestamp, and reason.</a:t>
            </a:r>
            <a:endParaRPr lang="en-US" sz="2400"/>
          </a:p>
        </p:txBody>
      </p:sp>
      <p:sp>
        <p:nvSpPr>
          <p:cNvPr id="11" name="Shape 11"/>
          <p:cNvSpPr txBox="1"/>
          <p:nvPr/>
        </p:nvSpPr>
        <p:spPr>
          <a:xfrm>
            <a:off x="987552" y="4023360"/>
            <a:ext cx="9966960" cy="1078992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1298448" y="4370832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 b="1">
                <a:solidFill>
                  <a:srgbClr val="10B981"/>
                </a:solidFill>
                <a:latin typeface="Aptos"/>
              </a:rPr>
              <a:t>Result: managers can explain exactly why stock changed, who changed it, and when it happened.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Request Workflow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Part requests move through an approval and fulfillment process instead of informal messages.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868680" y="2084831"/>
            <a:ext cx="14173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38BDF8"/>
                </a:solidFill>
                <a:latin typeface="Aptos"/>
              </a:rPr>
              <a:t>Create</a:t>
            </a:r>
            <a:endParaRPr lang="en-US" sz="1100"/>
          </a:p>
        </p:txBody>
      </p:sp>
      <p:sp>
        <p:nvSpPr>
          <p:cNvPr id="7" name="Shape 7"/>
          <p:cNvSpPr txBox="1"/>
          <p:nvPr/>
        </p:nvSpPr>
        <p:spPr>
          <a:xfrm>
            <a:off x="2788920" y="2084831"/>
            <a:ext cx="14173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59E0B"/>
                </a:solidFill>
                <a:latin typeface="Aptos"/>
              </a:rPr>
              <a:t>Pending</a:t>
            </a:r>
            <a:endParaRPr lang="en-US" sz="1100"/>
          </a:p>
        </p:txBody>
      </p:sp>
      <p:sp>
        <p:nvSpPr>
          <p:cNvPr id="8" name="Shape 8"/>
          <p:cNvSpPr txBox="1"/>
          <p:nvPr/>
        </p:nvSpPr>
        <p:spPr>
          <a:xfrm>
            <a:off x="4709160" y="2084831"/>
            <a:ext cx="14173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0B981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10B981"/>
                </a:solidFill>
                <a:latin typeface="Aptos"/>
              </a:rPr>
              <a:t>Approve</a:t>
            </a:r>
            <a:endParaRPr lang="en-US" sz="1100"/>
          </a:p>
        </p:txBody>
      </p:sp>
      <p:sp>
        <p:nvSpPr>
          <p:cNvPr id="9" name="Shape 9"/>
          <p:cNvSpPr txBox="1"/>
          <p:nvPr/>
        </p:nvSpPr>
        <p:spPr>
          <a:xfrm>
            <a:off x="6629400" y="2084831"/>
            <a:ext cx="14173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A78BFA"/>
                </a:solidFill>
                <a:latin typeface="Aptos"/>
              </a:rPr>
              <a:t>Fulfill</a:t>
            </a:r>
            <a:endParaRPr lang="en-US" sz="1100"/>
          </a:p>
        </p:txBody>
      </p:sp>
      <p:sp>
        <p:nvSpPr>
          <p:cNvPr id="10" name="Shape 10"/>
          <p:cNvSpPr txBox="1"/>
          <p:nvPr/>
        </p:nvSpPr>
        <p:spPr>
          <a:xfrm>
            <a:off x="8549640" y="2084831"/>
            <a:ext cx="14173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EF4444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EF4444"/>
                </a:solidFill>
                <a:latin typeface="Aptos"/>
              </a:rPr>
              <a:t>Audit</a:t>
            </a:r>
            <a:endParaRPr lang="en-US" sz="1100"/>
          </a:p>
        </p:txBody>
      </p:sp>
      <p:sp>
        <p:nvSpPr>
          <p:cNvPr id="11" name="Shape 11"/>
          <p:cNvSpPr txBox="1"/>
          <p:nvPr/>
        </p:nvSpPr>
        <p:spPr>
          <a:xfrm>
            <a:off x="960120" y="3273552"/>
            <a:ext cx="96012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400" b="1">
                <a:solidFill>
                  <a:srgbClr val="F8FAFC"/>
                </a:solidFill>
                <a:latin typeface="Aptos"/>
              </a:rPr>
              <a:t>Multi-item requests, manager approvals, fulfillment permissions, cancellation, scan-to-fulfill, and request-level audit details.</a:t>
            </a:r>
            <a:endParaRPr lang="en-US" sz="2400"/>
          </a:p>
        </p:txBody>
      </p:sp>
      <p:sp>
        <p:nvSpPr>
          <p:cNvPr id="12" name="Shape 12"/>
          <p:cNvSpPr txBox="1"/>
          <p:nvPr/>
        </p:nvSpPr>
        <p:spPr>
          <a:xfrm>
            <a:off x="1965960" y="466344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700">
                <a:solidFill>
                  <a:srgbClr val="94A3B8"/>
                </a:solidFill>
                <a:latin typeface="Aptos"/>
              </a:rPr>
              <a:t>This turns parts movement into a controlled workflow instead of a paper trail.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Barcode Scanning + Analytics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Scanning makes warehouse work faster and gives managers visibility into real activity.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822960" y="1737360"/>
            <a:ext cx="292608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78992" y="20391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000" b="1">
                <a:solidFill>
                  <a:srgbClr val="F59E0B"/>
                </a:solidFill>
                <a:latin typeface="Aptos"/>
              </a:rPr>
              <a:t>Scan Methods</a:t>
            </a:r>
            <a:endParaRPr lang="en-US" sz="2000"/>
          </a:p>
        </p:txBody>
      </p:sp>
      <p:sp>
        <p:nvSpPr>
          <p:cNvPr id="8" name="Shape 8"/>
          <p:cNvSpPr txBox="1"/>
          <p:nvPr/>
        </p:nvSpPr>
        <p:spPr>
          <a:xfrm>
            <a:off x="1143000" y="269748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Camera scan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USB scanner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Manual SKU entry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Barcode login</a:t>
            </a:r>
            <a:endParaRPr lang="en-US" sz="1800"/>
          </a:p>
        </p:txBody>
      </p:sp>
      <p:sp>
        <p:nvSpPr>
          <p:cNvPr id="9" name="Shape 9"/>
          <p:cNvSpPr txBox="1"/>
          <p:nvPr/>
        </p:nvSpPr>
        <p:spPr>
          <a:xfrm>
            <a:off x="4617720" y="1737360"/>
            <a:ext cx="292608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4864608" y="203911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000" b="1">
                <a:solidFill>
                  <a:srgbClr val="10B981"/>
                </a:solidFill>
                <a:latin typeface="Aptos"/>
              </a:rPr>
              <a:t>Scan Actions</a:t>
            </a:r>
            <a:endParaRPr lang="en-US" sz="2000"/>
          </a:p>
        </p:txBody>
      </p:sp>
      <p:sp>
        <p:nvSpPr>
          <p:cNvPr id="11" name="Shape 11"/>
          <p:cNvSpPr txBox="1"/>
          <p:nvPr/>
        </p:nvSpPr>
        <p:spPr>
          <a:xfrm>
            <a:off x="4983480" y="2697480"/>
            <a:ext cx="214884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Lookup parts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Navigate records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Fulfill requests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Track success</a:t>
            </a:r>
            <a:endParaRPr lang="en-US" sz="1800"/>
          </a:p>
        </p:txBody>
      </p:sp>
      <p:sp>
        <p:nvSpPr>
          <p:cNvPr id="12" name="Shape 12"/>
          <p:cNvSpPr txBox="1"/>
          <p:nvPr/>
        </p:nvSpPr>
        <p:spPr>
          <a:xfrm>
            <a:off x="8412480" y="1737360"/>
            <a:ext cx="2926080" cy="3291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8659368" y="203911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000" b="1">
                <a:solidFill>
                  <a:srgbClr val="38BDF8"/>
                </a:solidFill>
                <a:latin typeface="Aptos"/>
              </a:rPr>
              <a:t>Analytics</a:t>
            </a:r>
            <a:endParaRPr lang="en-US" sz="2000"/>
          </a:p>
        </p:txBody>
      </p:sp>
      <p:sp>
        <p:nvSpPr>
          <p:cNvPr id="14" name="Shape 14"/>
          <p:cNvSpPr txBox="1"/>
          <p:nvPr/>
        </p:nvSpPr>
        <p:spPr>
          <a:xfrm>
            <a:off x="8705088" y="2697480"/>
            <a:ext cx="233172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Most scanned parts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Most active users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Peak scan hours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Scan frequency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Operational Intelligence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AutoTraQ does more than store inventory. It helps teams decide what needs attention.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777240" y="1828800"/>
            <a:ext cx="256032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500" b="1">
                <a:solidFill>
                  <a:srgbClr val="EF4444"/>
                </a:solidFill>
                <a:latin typeface="Aptos"/>
              </a:rPr>
              <a:t>Low-stock alerts</a:t>
            </a:r>
            <a:endParaRPr lang="en-US" sz="2500"/>
          </a:p>
        </p:txBody>
      </p:sp>
      <p:sp>
        <p:nvSpPr>
          <p:cNvPr id="7" name="Shape 7"/>
          <p:cNvSpPr txBox="1"/>
          <p:nvPr/>
        </p:nvSpPr>
        <p:spPr>
          <a:xfrm>
            <a:off x="804672" y="246888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>
                <a:solidFill>
                  <a:srgbClr val="F8FAFC"/>
                </a:solidFill>
                <a:latin typeface="Aptos"/>
              </a:rPr>
              <a:t>Detect parts below minimum stock and surface them on the dashboard.</a:t>
            </a:r>
            <a:endParaRPr lang="en-US" sz="1700"/>
          </a:p>
        </p:txBody>
      </p:sp>
      <p:sp>
        <p:nvSpPr>
          <p:cNvPr id="8" name="Shape 8"/>
          <p:cNvSpPr txBox="1"/>
          <p:nvPr/>
        </p:nvSpPr>
        <p:spPr>
          <a:xfrm>
            <a:off x="3977639" y="182880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500" b="1">
                <a:solidFill>
                  <a:srgbClr val="F59E0B"/>
                </a:solidFill>
                <a:latin typeface="Aptos"/>
              </a:rPr>
              <a:t>Reorder management</a:t>
            </a:r>
            <a:endParaRPr lang="en-US" sz="2500"/>
          </a:p>
        </p:txBody>
      </p:sp>
      <p:sp>
        <p:nvSpPr>
          <p:cNvPr id="9" name="Shape 9"/>
          <p:cNvSpPr txBox="1"/>
          <p:nvPr/>
        </p:nvSpPr>
        <p:spPr>
          <a:xfrm>
            <a:off x="4005072" y="246888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>
                <a:solidFill>
                  <a:srgbClr val="F8FAFC"/>
                </a:solidFill>
                <a:latin typeface="Aptos"/>
              </a:rPr>
              <a:t>Prioritize critical, high, medium, and low reorder needs using usage history.</a:t>
            </a:r>
            <a:endParaRPr lang="en-US" sz="1700"/>
          </a:p>
        </p:txBody>
      </p:sp>
      <p:sp>
        <p:nvSpPr>
          <p:cNvPr id="10" name="Shape 10"/>
          <p:cNvSpPr txBox="1"/>
          <p:nvPr/>
        </p:nvSpPr>
        <p:spPr>
          <a:xfrm>
            <a:off x="7452360" y="1828800"/>
            <a:ext cx="2880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2500" b="1">
                <a:solidFill>
                  <a:srgbClr val="10B981"/>
                </a:solidFill>
                <a:latin typeface="Aptos"/>
              </a:rPr>
              <a:t>Predictive views</a:t>
            </a:r>
            <a:endParaRPr lang="en-US" sz="2500"/>
          </a:p>
        </p:txBody>
      </p:sp>
      <p:sp>
        <p:nvSpPr>
          <p:cNvPr id="11" name="Shape 11"/>
          <p:cNvSpPr txBox="1"/>
          <p:nvPr/>
        </p:nvSpPr>
        <p:spPr>
          <a:xfrm>
            <a:off x="7479792" y="246888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700">
                <a:solidFill>
                  <a:srgbClr val="F8FAFC"/>
                </a:solidFill>
                <a:latin typeface="Aptos"/>
              </a:rPr>
              <a:t>Estimate days until restock, usage trends, and risk signals.</a:t>
            </a:r>
            <a:endParaRPr lang="en-US" sz="1700"/>
          </a:p>
        </p:txBody>
      </p:sp>
      <p:sp>
        <p:nvSpPr>
          <p:cNvPr id="12" name="Shape 12"/>
          <p:cNvSpPr txBox="1"/>
          <p:nvPr/>
        </p:nvSpPr>
        <p:spPr>
          <a:xfrm>
            <a:off x="1024128" y="4617720"/>
            <a:ext cx="9966960" cy="65836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1234440" y="4818888"/>
            <a:ext cx="95097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900" b="1">
                <a:solidFill>
                  <a:srgbClr val="F8FAFC"/>
                </a:solidFill>
                <a:latin typeface="Aptos"/>
              </a:rPr>
              <a:t>Managers see problems before they become stockouts.</a:t>
            </a:r>
            <a:endParaRPr lang="en-US"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Admin, Security, and Accountability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Every user gets the right access level, and important actions leave a record.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777240" y="1645920"/>
            <a:ext cx="2743200" cy="3337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7" name="Shape 7"/>
          <p:cNvSpPr txBox="1"/>
          <p:nvPr/>
        </p:nvSpPr>
        <p:spPr>
          <a:xfrm>
            <a:off x="1033271" y="193852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100" b="1">
                <a:solidFill>
                  <a:srgbClr val="F59E0B"/>
                </a:solidFill>
                <a:latin typeface="Aptos"/>
              </a:rPr>
              <a:t>Roles</a:t>
            </a:r>
            <a:endParaRPr lang="en-US" sz="2100"/>
          </a:p>
        </p:txBody>
      </p:sp>
      <p:sp>
        <p:nvSpPr>
          <p:cNvPr id="8" name="Shape 8"/>
          <p:cNvSpPr txBox="1"/>
          <p:nvPr/>
        </p:nvSpPr>
        <p:spPr>
          <a:xfrm>
            <a:off x="1078992" y="2651760"/>
            <a:ext cx="214884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Admin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Manager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Fulfillment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Viewer</a:t>
            </a:r>
            <a:endParaRPr lang="en-US" sz="1800"/>
          </a:p>
        </p:txBody>
      </p:sp>
      <p:sp>
        <p:nvSpPr>
          <p:cNvPr id="9" name="Shape 9"/>
          <p:cNvSpPr txBox="1"/>
          <p:nvPr/>
        </p:nvSpPr>
        <p:spPr>
          <a:xfrm>
            <a:off x="4572000" y="1645920"/>
            <a:ext cx="2743200" cy="3337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4818888" y="193852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100" b="1">
                <a:solidFill>
                  <a:srgbClr val="38BDF8"/>
                </a:solidFill>
                <a:latin typeface="Aptos"/>
              </a:rPr>
              <a:t>Admin Console</a:t>
            </a:r>
            <a:endParaRPr lang="en-US" sz="2100"/>
          </a:p>
        </p:txBody>
      </p:sp>
      <p:sp>
        <p:nvSpPr>
          <p:cNvPr id="11" name="Shape 11"/>
          <p:cNvSpPr txBox="1"/>
          <p:nvPr/>
        </p:nvSpPr>
        <p:spPr>
          <a:xfrm>
            <a:off x="4800600" y="2651760"/>
            <a:ext cx="224028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Create users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Reset passwords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Approve roles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Manage pricing</a:t>
            </a:r>
            <a:endParaRPr lang="en-US" sz="1800"/>
          </a:p>
        </p:txBody>
      </p:sp>
      <p:sp>
        <p:nvSpPr>
          <p:cNvPr id="12" name="Shape 12"/>
          <p:cNvSpPr txBox="1"/>
          <p:nvPr/>
        </p:nvSpPr>
        <p:spPr>
          <a:xfrm>
            <a:off x="8366760" y="1645920"/>
            <a:ext cx="2743200" cy="3337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8613648" y="1938528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100" b="1">
                <a:solidFill>
                  <a:srgbClr val="10B981"/>
                </a:solidFill>
                <a:latin typeface="Aptos"/>
              </a:rPr>
              <a:t>Audit Trail</a:t>
            </a:r>
            <a:endParaRPr lang="en-US" sz="2100"/>
          </a:p>
        </p:txBody>
      </p:sp>
      <p:sp>
        <p:nvSpPr>
          <p:cNvPr id="14" name="Shape 14"/>
          <p:cNvSpPr txBox="1"/>
          <p:nvPr/>
        </p:nvSpPr>
        <p:spPr>
          <a:xfrm>
            <a:off x="8577072" y="2651760"/>
            <a:ext cx="22860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Who acted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What changed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When it happened</a:t>
            </a:r>
            <a:endParaRPr lang="en-US" sz="1800"/>
          </a:p>
          <a:p>
            <a:pPr algn="c"/>
            <a:r>
              <a:rPr lang="en-US" sz="1800">
                <a:solidFill>
                  <a:srgbClr val="F8FAFC"/>
                </a:solidFill>
                <a:latin typeface="Aptos"/>
              </a:rPr>
              <a:t>Which record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Imports, Exports, and Reports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The system supports real onboarding and real reporting needs.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914400" y="182880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400" b="1">
                <a:solidFill>
                  <a:srgbClr val="F59E0B"/>
                </a:solidFill>
                <a:latin typeface="Aptos"/>
              </a:rPr>
              <a:t>CSV</a:t>
            </a:r>
            <a:endParaRPr lang="en-US" sz="3400"/>
          </a:p>
        </p:txBody>
      </p:sp>
      <p:sp>
        <p:nvSpPr>
          <p:cNvPr id="7" name="Shape 7"/>
          <p:cNvSpPr txBox="1"/>
          <p:nvPr/>
        </p:nvSpPr>
        <p:spPr>
          <a:xfrm>
            <a:off x="914400" y="251460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>
                <a:solidFill>
                  <a:srgbClr val="F8FAFC"/>
                </a:solidFill>
                <a:latin typeface="Aptos"/>
              </a:rPr>
              <a:t>Bulk import/update parts and export inventory data for handoff or analysis.</a:t>
            </a:r>
            <a:endParaRPr lang="en-US" sz="1800"/>
          </a:p>
        </p:txBody>
      </p:sp>
      <p:sp>
        <p:nvSpPr>
          <p:cNvPr id="8" name="Shape 8"/>
          <p:cNvSpPr txBox="1"/>
          <p:nvPr/>
        </p:nvSpPr>
        <p:spPr>
          <a:xfrm>
            <a:off x="4572000" y="182880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400" b="1">
                <a:solidFill>
                  <a:srgbClr val="38BDF8"/>
                </a:solidFill>
                <a:latin typeface="Aptos"/>
              </a:rPr>
              <a:t>PDF</a:t>
            </a:r>
            <a:endParaRPr lang="en-US" sz="3400"/>
          </a:p>
        </p:txBody>
      </p:sp>
      <p:sp>
        <p:nvSpPr>
          <p:cNvPr id="9" name="Shape 9"/>
          <p:cNvSpPr txBox="1"/>
          <p:nvPr/>
        </p:nvSpPr>
        <p:spPr>
          <a:xfrm>
            <a:off x="4572000" y="251460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>
                <a:solidFill>
                  <a:srgbClr val="F8FAFC"/>
                </a:solidFill>
                <a:latin typeface="Aptos"/>
              </a:rPr>
              <a:t>Generate full inventory and low-stock reports for managers.</a:t>
            </a:r>
            <a:endParaRPr lang="en-US" sz="1800"/>
          </a:p>
        </p:txBody>
      </p:sp>
      <p:sp>
        <p:nvSpPr>
          <p:cNvPr id="10" name="Shape 10"/>
          <p:cNvSpPr txBox="1"/>
          <p:nvPr/>
        </p:nvSpPr>
        <p:spPr>
          <a:xfrm>
            <a:off x="8229600" y="182880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400" b="1">
                <a:solidFill>
                  <a:srgbClr val="10B981"/>
                </a:solidFill>
                <a:latin typeface="Aptos"/>
              </a:rPr>
              <a:t>API</a:t>
            </a:r>
            <a:endParaRPr lang="en-US" sz="3400"/>
          </a:p>
        </p:txBody>
      </p:sp>
      <p:sp>
        <p:nvSpPr>
          <p:cNvPr id="11" name="Shape 11"/>
          <p:cNvSpPr txBox="1"/>
          <p:nvPr/>
        </p:nvSpPr>
        <p:spPr>
          <a:xfrm>
            <a:off x="8229600" y="2514600"/>
            <a:ext cx="315468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>
                <a:solidFill>
                  <a:srgbClr val="F8FAFC"/>
                </a:solidFill>
                <a:latin typeface="Aptos"/>
              </a:rPr>
              <a:t>Backend routes cover parts, vehicles, inventory, requests, scans, reports, and admin workflows.</a:t>
            </a:r>
            <a:endParaRPr lang="en-US" sz="1800"/>
          </a:p>
        </p:txBody>
      </p:sp>
      <p:sp>
        <p:nvSpPr>
          <p:cNvPr id="12" name="Shape 12"/>
          <p:cNvSpPr txBox="1"/>
          <p:nvPr/>
        </p:nvSpPr>
        <p:spPr>
          <a:xfrm>
            <a:off x="914400" y="489204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>
                <a:solidFill>
                  <a:srgbClr val="94A3B8"/>
                </a:solidFill>
                <a:latin typeface="Aptos"/>
              </a:rPr>
              <a:t>Useful in a demo, but also practical when a client brings existing spreadsheet data.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Technical Foundation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Modern web stack, production deployment path, and automated quality checks.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822960" y="1783080"/>
            <a:ext cx="274320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8BDF8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38BDF8"/>
                </a:solidFill>
                <a:latin typeface="Aptos"/>
              </a:rPr>
              <a:t>React + Vite + TypeScript</a:t>
            </a:r>
            <a:endParaRPr lang="en-US" sz="1100"/>
          </a:p>
        </p:txBody>
      </p:sp>
      <p:sp>
        <p:nvSpPr>
          <p:cNvPr id="7" name="Shape 7"/>
          <p:cNvSpPr txBox="1"/>
          <p:nvPr/>
        </p:nvSpPr>
        <p:spPr>
          <a:xfrm>
            <a:off x="3703320" y="1783080"/>
            <a:ext cx="233172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0B981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10B981"/>
                </a:solidFill>
                <a:latin typeface="Aptos"/>
              </a:rPr>
              <a:t>Express API + Zod</a:t>
            </a:r>
            <a:endParaRPr lang="en-US" sz="1100"/>
          </a:p>
        </p:txBody>
      </p:sp>
      <p:sp>
        <p:nvSpPr>
          <p:cNvPr id="8" name="Shape 8"/>
          <p:cNvSpPr txBox="1"/>
          <p:nvPr/>
        </p:nvSpPr>
        <p:spPr>
          <a:xfrm>
            <a:off x="6217920" y="1783080"/>
            <a:ext cx="205740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F59E0B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F59E0B"/>
                </a:solidFill>
                <a:latin typeface="Aptos"/>
              </a:rPr>
              <a:t>MySQL + Prisma</a:t>
            </a:r>
            <a:endParaRPr lang="en-US" sz="1100"/>
          </a:p>
        </p:txBody>
      </p:sp>
      <p:sp>
        <p:nvSpPr>
          <p:cNvPr id="9" name="Shape 9"/>
          <p:cNvSpPr txBox="1"/>
          <p:nvPr/>
        </p:nvSpPr>
        <p:spPr>
          <a:xfrm>
            <a:off x="8458200" y="1783080"/>
            <a:ext cx="2057400" cy="34747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A78BFA"/>
            </a:solidFill>
          </a:ln>
        </p:spPr>
        <p:txBody>
          <a:bodyPr wrap="square" anchor="mid" lIns="91440" rIns="91440" tIns="45720" bIns="45720"/>
          <a:lstStyle/>
          <a:p>
            <a:pPr algn="c"/>
            <a:r>
              <a:rPr lang="en-US" sz="1100" b="1">
                <a:solidFill>
                  <a:srgbClr val="A78BFA"/>
                </a:solidFill>
                <a:latin typeface="Aptos"/>
              </a:rPr>
              <a:t>Railway Deploy</a:t>
            </a:r>
            <a:endParaRPr lang="en-US" sz="1100"/>
          </a:p>
        </p:txBody>
      </p:sp>
      <p:sp>
        <p:nvSpPr>
          <p:cNvPr id="10" name="Shape 10"/>
          <p:cNvSpPr txBox="1"/>
          <p:nvPr/>
        </p:nvSpPr>
        <p:spPr>
          <a:xfrm>
            <a:off x="1097280" y="3108960"/>
            <a:ext cx="97840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</p:sp>
      <p:sp>
        <p:nvSpPr>
          <p:cNvPr id="11" name="Shape 11"/>
          <p:cNvSpPr txBox="1"/>
          <p:nvPr/>
        </p:nvSpPr>
        <p:spPr>
          <a:xfrm>
            <a:off x="1417320" y="349300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800" b="1">
                <a:solidFill>
                  <a:srgbClr val="F8FAFC"/>
                </a:solidFill>
                <a:latin typeface="Aptos"/>
              </a:rPr>
              <a:t>Production readiness includes security headers, compression, CORS controls, schema deployment, and CI checks.</a:t>
            </a:r>
            <a:endParaRPr lang="en-US" sz="1800"/>
          </a:p>
        </p:txBody>
      </p:sp>
      <p:sp>
        <p:nvSpPr>
          <p:cNvPr id="12" name="Shape 12"/>
          <p:cNvSpPr txBox="1"/>
          <p:nvPr/>
        </p:nvSpPr>
        <p:spPr>
          <a:xfrm>
            <a:off x="1828800" y="502920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600">
                <a:solidFill>
                  <a:srgbClr val="94A3B8"/>
                </a:solidFill>
                <a:latin typeface="Aptos"/>
              </a:rPr>
              <a:t>This supports the web-only direction: reliable deploys instead of computer-by-computer installation.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Best Live Demo Path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A short demo can show the whole product without overwhelming the room.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F59E0B"/>
                </a:solidFill>
                <a:latin typeface="Aptos"/>
              </a:rPr>
              <a:t>1  Login + dashboard</a:t>
            </a:r>
            <a:endParaRPr lang="en-US" sz="1800"/>
          </a:p>
        </p:txBody>
      </p:sp>
      <p:sp>
        <p:nvSpPr>
          <p:cNvPr id="7" name="Shape 7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F8FAFC"/>
                </a:solidFill>
                <a:latin typeface="Aptos"/>
              </a:rPr>
              <a:t>2  Search a part by SKU or vehicle fitment</a:t>
            </a:r>
            <a:endParaRPr lang="en-US" sz="1800"/>
          </a:p>
        </p:txBody>
      </p:sp>
      <p:sp>
        <p:nvSpPr>
          <p:cNvPr id="8" name="Shape 8"/>
          <p:cNvSpPr txBox="1"/>
          <p:nvPr/>
        </p:nvSpPr>
        <p:spPr>
          <a:xfrm>
            <a:off x="822960" y="2880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F8FAFC"/>
                </a:solidFill>
                <a:latin typeface="Aptos"/>
              </a:rPr>
              <a:t>3  Open part detail: images, barcode, fitments, stock, pricing</a:t>
            </a:r>
            <a:endParaRPr lang="en-US" sz="1800"/>
          </a:p>
        </p:txBody>
      </p:sp>
      <p:sp>
        <p:nvSpPr>
          <p:cNvPr id="9" name="Shape 9"/>
          <p:cNvSpPr txBox="1"/>
          <p:nvPr/>
        </p:nvSpPr>
        <p:spPr>
          <a:xfrm>
            <a:off x="822960" y="34290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F8FAFC"/>
                </a:solidFill>
                <a:latin typeface="Aptos"/>
              </a:rPr>
              <a:t>4  Scan or enter a barcode</a:t>
            </a:r>
            <a:endParaRPr lang="en-US" sz="1800"/>
          </a:p>
        </p:txBody>
      </p:sp>
      <p:sp>
        <p:nvSpPr>
          <p:cNvPr id="10" name="Shape 10"/>
          <p:cNvSpPr txBox="1"/>
          <p:nvPr/>
        </p:nvSpPr>
        <p:spPr>
          <a:xfrm>
            <a:off x="822960" y="3977639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F8FAFC"/>
                </a:solidFill>
                <a:latin typeface="Aptos"/>
              </a:rPr>
              <a:t>5  Create, approve, and fulfill a request</a:t>
            </a:r>
            <a:endParaRPr lang="en-US" sz="1800"/>
          </a:p>
        </p:txBody>
      </p:sp>
      <p:sp>
        <p:nvSpPr>
          <p:cNvPr id="11" name="Shape 11"/>
          <p:cNvSpPr txBox="1"/>
          <p:nvPr/>
        </p:nvSpPr>
        <p:spPr>
          <a:xfrm>
            <a:off x="822960" y="4526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F8FAFC"/>
                </a:solidFill>
                <a:latin typeface="Aptos"/>
              </a:rPr>
              <a:t>6  Show inventory changed, then prove it in audit logs</a:t>
            </a:r>
            <a:endParaRPr lang="en-US" sz="1800"/>
          </a:p>
        </p:txBody>
      </p:sp>
      <p:sp>
        <p:nvSpPr>
          <p:cNvPr id="12" name="Shape 12"/>
          <p:cNvSpPr txBox="1"/>
          <p:nvPr/>
        </p:nvSpPr>
        <p:spPr>
          <a:xfrm>
            <a:off x="822960" y="50749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800" b="1">
                <a:solidFill>
                  <a:srgbClr val="10B981"/>
                </a:solidFill>
                <a:latin typeface="Aptos"/>
              </a:rPr>
              <a:t>7  End on reorder management and low-stock intelligence</a:t>
            </a:r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 2"/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yebrow 3"/>
          <p:cNvSpPr txBox="1"/>
          <p:nvPr/>
        </p:nvSpPr>
        <p:spPr>
          <a:xfrm>
            <a:off x="530352" y="310896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900" b="1">
                <a:solidFill>
                  <a:srgbClr val="F59E0B"/>
                </a:solidFill>
                <a:latin typeface="Aptos"/>
              </a:rPr>
              <a:t>AUTOTRAQ</a:t>
            </a:r>
            <a:endParaRPr lang="en-US" sz="900"/>
          </a:p>
        </p:txBody>
      </p:sp>
      <p:sp>
        <p:nvSpPr>
          <p:cNvPr id="4" name="Title 4"/>
          <p:cNvSpPr txBox="1"/>
          <p:nvPr/>
        </p:nvSpPr>
        <p:spPr>
          <a:xfrm>
            <a:off x="530352" y="566928"/>
            <a:ext cx="70408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3000" b="1">
                <a:solidFill>
                  <a:srgbClr val="F8FAFC"/>
                </a:solidFill>
                <a:latin typeface="Aptos"/>
              </a:rPr>
              <a:t>What AutoTraQ Proves</a:t>
            </a:r>
            <a:endParaRPr lang="en-US" sz="3000"/>
          </a:p>
        </p:txBody>
      </p:sp>
      <p:sp>
        <p:nvSpPr>
          <p:cNvPr id="5" name="Subtitle 5"/>
          <p:cNvSpPr txBox="1"/>
          <p:nvPr/>
        </p:nvSpPr>
        <p:spPr>
          <a:xfrm>
            <a:off x="566928" y="1170432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l"/>
            <a:r>
              <a:rPr lang="en-US" sz="1400">
                <a:solidFill>
                  <a:srgbClr val="94A3B8"/>
                </a:solidFill>
                <a:latin typeface="Aptos"/>
              </a:rPr>
              <a:t>This is not just a class project interface. It is a working operations platform.</a:t>
            </a:r>
            <a:endParaRPr lang="en-US" sz="1400"/>
          </a:p>
        </p:txBody>
      </p:sp>
      <p:sp>
        <p:nvSpPr>
          <p:cNvPr id="6" name="Shape 6"/>
          <p:cNvSpPr txBox="1"/>
          <p:nvPr/>
        </p:nvSpPr>
        <p:spPr>
          <a:xfrm>
            <a:off x="960120" y="1874519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3000" b="1">
                <a:solidFill>
                  <a:srgbClr val="F8FAFC"/>
                </a:solidFill>
                <a:latin typeface="Aptos"/>
              </a:rPr>
              <a:t>One website can run the parts counter, warehouse, manager dashboard, scan station, and audit trail.</a:t>
            </a:r>
            <a:endParaRPr lang="en-US" sz="3000"/>
          </a:p>
        </p:txBody>
      </p:sp>
      <p:sp>
        <p:nvSpPr>
          <p:cNvPr id="7" name="Shape 7"/>
          <p:cNvSpPr txBox="1"/>
          <p:nvPr/>
        </p:nvSpPr>
        <p:spPr>
          <a:xfrm>
            <a:off x="2057400" y="3337560"/>
            <a:ext cx="80467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1508760" y="393192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2300" b="1">
                <a:solidFill>
                  <a:srgbClr val="F59E0B"/>
                </a:solidFill>
                <a:latin typeface="Aptos"/>
              </a:rPr>
              <a:t>Client value: fewer missing parts, faster lookups, cleaner accountability, and simpler onboarding.</a:t>
            </a:r>
            <a:endParaRPr lang="en-US" sz="2300"/>
          </a:p>
        </p:txBody>
      </p:sp>
      <p:sp>
        <p:nvSpPr>
          <p:cNvPr id="9" name="Shape 9"/>
          <p:cNvSpPr txBox="1"/>
          <p:nvPr/>
        </p:nvSpPr>
        <p:spPr>
          <a:xfrm>
            <a:off x="4434840" y="59893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rIns="91440" tIns="45720" bIns="45720"/>
          <a:lstStyle/>
          <a:p>
            <a:pPr algn="c"/>
            <a:r>
              <a:rPr lang="en-US" sz="1100">
                <a:solidFill>
                  <a:srgbClr val="94A3B8"/>
                </a:solidFill>
                <a:latin typeface="Aptos"/>
              </a:rPr>
              <a:t>AutoTraQ • Feature Showcase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TraQ">
  <a:themeElements>
    <a:clrScheme name="AutoTraQ">
      <a:dk1>
        <a:srgbClr val="0B1120"/>
      </a:dk1>
      <a:lt1>
        <a:srgbClr val="F8FAFC"/>
      </a:lt1>
      <a:dk2>
        <a:srgbClr val="111827"/>
      </a:dk2>
      <a:lt2>
        <a:srgbClr val="E2E8F0"/>
      </a:lt2>
      <a:accent1>
        <a:srgbClr val="F59E0B"/>
      </a:accent1>
      <a:accent2>
        <a:srgbClr val="10B981"/>
      </a:accent2>
      <a:accent3>
        <a:srgbClr val="38BDF8"/>
      </a:accent3>
      <a:accent4>
        <a:srgbClr val="A78BFA"/>
      </a:accent4>
      <a:accent5>
        <a:srgbClr val="EF4444"/>
      </a:accent5>
      <a:accent6>
        <a:srgbClr val="22D3EE"/>
      </a:accent6>
      <a:hlink>
        <a:srgbClr val="38BDF8"/>
      </a:hlink>
      <a:folHlink>
        <a:srgbClr val="A78BFA"/>
      </a:folHlink>
    </a:clrScheme>
    <a:fontScheme name="AutoTraQ">
      <a:majorFont>
        <a:latin typeface="Aptos"/>
      </a:majorFont>
      <a:minorFont>
        <a:latin typeface="Aptos"/>
      </a:minorFont>
    </a:fontScheme>
    <a:fmtScheme name="AutoTraQ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AutoTraQ</Application>
  <PresentationFormat>On-screen Show (16:9)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AutoTraQ Feature Showcase</dc:title>
  <dc:creator>AutoTraQ</dc:creator>
  <cp:lastModifiedBy>AutoTraQ</cp:lastModifiedBy>
</cp:coreProperties>
</file>