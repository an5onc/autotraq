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79"/>
  </p:normalViewPr>
  <p:slideViewPr>
    <p:cSldViewPr snapToGrid="0">
      <p:cViewPr varScale="1">
        <p:scale>
          <a:sx n="121" d="100"/>
          <a:sy n="121" d="100"/>
        </p:scale>
        <p:origin x="3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4CF84-C7B3-9046-D734-836D90DA2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EFD07E-A6B3-F0D2-D65C-272F791A1E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4CF62-D10D-00E6-3192-841670E3D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A1C-493F-2146-A5F8-94F1AFB86118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2085F-3906-771B-68CB-1896CA1D9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3E703-6F2A-D660-88F7-3E31EAA9E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41823-EF9F-8341-94DF-C3766B31F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810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BBF72-8421-C0F8-7B68-10717B7E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E1CB3-58D6-BEDB-EE48-7E6210130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D90C9-67B1-BD51-4EC2-85F5296C0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A1C-493F-2146-A5F8-94F1AFB86118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0D236-E97A-C55C-399B-52E87AD00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EE4ED-FC4C-C258-FAEB-B588B4B36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41823-EF9F-8341-94DF-C3766B31F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261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219DE-1F44-928C-28DA-49BAF8178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05BA8-CCA8-9F0C-4916-4C90ACA6F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1B4D5-509E-F690-D63E-0909F5EFE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A1C-493F-2146-A5F8-94F1AFB86118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244CA-EE0E-0638-B004-69744483B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FB9D6-3EC2-A25F-4845-87B93E2CB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41823-EF9F-8341-94DF-C3766B31F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710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B60AD-1D86-CDA1-982C-AF3B56E74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3570C-9F51-2769-4B2D-FE1D6CCB17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49F32D-14B6-858E-9D4A-0465BF88E4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1F7F2-6E89-5705-578A-B57E1233B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A1C-493F-2146-A5F8-94F1AFB86118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01EB60-FB67-1CBC-091D-193798D44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13220-3012-F34A-6DBB-87D859278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41823-EF9F-8341-94DF-C3766B31F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238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3A291-4546-C95C-4866-4823ED464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EE039-3CC9-ACED-55CE-18A65EB90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A24AD9-665C-8BFE-A3C6-F63BF48EA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77F4B2-343A-B5D3-7B5F-9DE347CEE4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E97FE8-A16E-40E0-FC88-24EE480E05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7D037C-8DC9-D0EE-6D41-34159EB50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A1C-493F-2146-A5F8-94F1AFB86118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5651D-8772-61D3-7E73-205F2644C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30434F-11E5-AE44-6CFE-67FAC103F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41823-EF9F-8341-94DF-C3766B31F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830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094CF-1124-DD75-BF31-F96422BB4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125E10-5062-9678-229D-6F54107AD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A1C-493F-2146-A5F8-94F1AFB86118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BABF20-F363-1CB8-ADA3-A59DE5780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A40192-7DA0-F070-837F-61B51B095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41823-EF9F-8341-94DF-C3766B31F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651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21F98D-527E-56DD-1B81-8734D073D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A1C-493F-2146-A5F8-94F1AFB86118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47226C-5BD9-6DB5-0472-6E5108EBE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146B8-EA7F-22B8-F17F-00319478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41823-EF9F-8341-94DF-C3766B31F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060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09713-1E36-9F62-6CFE-0F6C29F86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0344B-8E08-BA5A-31DF-AA4B21F7D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F5D5E5-F47E-1727-2016-FF0DAF4F1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A5649-47B5-775E-3180-A29FE4725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A1C-493F-2146-A5F8-94F1AFB86118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5C128-8D05-BC4E-A62B-C58CD20BE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696B4-0533-15B7-7DAC-FB52E6527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41823-EF9F-8341-94DF-C3766B31F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575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5706E-936E-F1E1-55D7-9EF5BD0E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ACE1B6-25F5-E252-0C45-ABEE1E01BC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1BD69-9801-2590-C5AF-CF13E9147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79B0C-7D4F-E262-8961-86A030065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A1C-493F-2146-A5F8-94F1AFB86118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5D8B7-D56E-115D-A457-009161152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999E1-EF76-69C5-AE2C-AFEDD419E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41823-EF9F-8341-94DF-C3766B31F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548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D5F3-3B5B-5E28-DC59-6761996E2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9F80D5-4E7D-7C77-7E41-CD989A46F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4782C-CF79-2414-DB8F-2CBC5C874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A1C-493F-2146-A5F8-94F1AFB86118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C5CA6-4A39-BA4B-8899-186A4EB4F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F5A4A-1715-BDAF-4B53-DBB631138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41823-EF9F-8341-94DF-C3766B31F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70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8B644D-D651-DAC6-A7C2-4FD4C58C10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D220D9-7F27-2217-296F-C49DDAD12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59209-FA96-3015-258C-02E12A46B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A1C-493F-2146-A5F8-94F1AFB86118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55AEA-84BB-FD13-1EF4-59BB599E1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6CFC0-E602-F137-827C-B9DCD6C5D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41823-EF9F-8341-94DF-C3766B31F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017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4CF84-C7B3-9046-D734-836D90DA2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EFD07E-A6B3-F0D2-D65C-272F791A1E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4CF62-D10D-00E6-3192-841670E3D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A1C-493F-2146-A5F8-94F1AFB86118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2085F-3906-771B-68CB-1896CA1D9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3E703-6F2A-D660-88F7-3E31EAA9E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41823-EF9F-8341-94DF-C3766B31F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810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BBF72-8421-C0F8-7B68-10717B7E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E1CB3-58D6-BEDB-EE48-7E6210130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D90C9-67B1-BD51-4EC2-85F5296C0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A1C-493F-2146-A5F8-94F1AFB86118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0D236-E97A-C55C-399B-52E87AD00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EE4ED-FC4C-C258-FAEB-B588B4B36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41823-EF9F-8341-94DF-C3766B31F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2618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219DE-1F44-928C-28DA-49BAF8178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05BA8-CCA8-9F0C-4916-4C90ACA6F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1B4D5-509E-F690-D63E-0909F5EFE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A1C-493F-2146-A5F8-94F1AFB86118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244CA-EE0E-0638-B004-69744483B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FB9D6-3EC2-A25F-4845-87B93E2CB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41823-EF9F-8341-94DF-C3766B31F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7103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B60AD-1D86-CDA1-982C-AF3B56E74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3570C-9F51-2769-4B2D-FE1D6CCB17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49F32D-14B6-858E-9D4A-0465BF88E4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1F7F2-6E89-5705-578A-B57E1233B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A1C-493F-2146-A5F8-94F1AFB86118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01EB60-FB67-1CBC-091D-193798D44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13220-3012-F34A-6DBB-87D859278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41823-EF9F-8341-94DF-C3766B31F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2386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3A291-4546-C95C-4866-4823ED464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EE039-3CC9-ACED-55CE-18A65EB90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A24AD9-665C-8BFE-A3C6-F63BF48EA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77F4B2-343A-B5D3-7B5F-9DE347CEE4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E97FE8-A16E-40E0-FC88-24EE480E05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7D037C-8DC9-D0EE-6D41-34159EB50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A1C-493F-2146-A5F8-94F1AFB86118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5651D-8772-61D3-7E73-205F2644C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30434F-11E5-AE44-6CFE-67FAC103F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41823-EF9F-8341-94DF-C3766B31F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8303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094CF-1124-DD75-BF31-F96422BB4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125E10-5062-9678-229D-6F54107AD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A1C-493F-2146-A5F8-94F1AFB86118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BABF20-F363-1CB8-ADA3-A59DE5780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A40192-7DA0-F070-837F-61B51B095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41823-EF9F-8341-94DF-C3766B31F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6517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21F98D-527E-56DD-1B81-8734D073D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A1C-493F-2146-A5F8-94F1AFB86118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47226C-5BD9-6DB5-0472-6E5108EBE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146B8-EA7F-22B8-F17F-00319478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41823-EF9F-8341-94DF-C3766B31F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0609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09713-1E36-9F62-6CFE-0F6C29F86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0344B-8E08-BA5A-31DF-AA4B21F7D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F5D5E5-F47E-1727-2016-FF0DAF4F1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A5649-47B5-775E-3180-A29FE4725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A1C-493F-2146-A5F8-94F1AFB86118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5C128-8D05-BC4E-A62B-C58CD20BE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696B4-0533-15B7-7DAC-FB52E6527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41823-EF9F-8341-94DF-C3766B31F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5756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5706E-936E-F1E1-55D7-9EF5BD0E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ACE1B6-25F5-E252-0C45-ABEE1E01BC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1BD69-9801-2590-C5AF-CF13E9147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79B0C-7D4F-E262-8961-86A030065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A1C-493F-2146-A5F8-94F1AFB86118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5D8B7-D56E-115D-A457-009161152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999E1-EF76-69C5-AE2C-AFEDD419E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41823-EF9F-8341-94DF-C3766B31F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5486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D5F3-3B5B-5E28-DC59-6761996E2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9F80D5-4E7D-7C77-7E41-CD989A46F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4782C-CF79-2414-DB8F-2CBC5C874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A1C-493F-2146-A5F8-94F1AFB86118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C5CA6-4A39-BA4B-8899-186A4EB4F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F5A4A-1715-BDAF-4B53-DBB631138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41823-EF9F-8341-94DF-C3766B31F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706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8B644D-D651-DAC6-A7C2-4FD4C58C10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D220D9-7F27-2217-296F-C49DDAD12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59209-FA96-3015-258C-02E12A46B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A1C-493F-2146-A5F8-94F1AFB86118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55AEA-84BB-FD13-1EF4-59BB599E1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6CFC0-E602-F137-827C-B9DCD6C5D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41823-EF9F-8341-94DF-C3766B31F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017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46C3A-F334-6086-1DF7-ABE11CFE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8DDD0-915D-F0C3-BB12-105E9FABA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2C156-3734-2EEF-E3E1-03F55DFE62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ADFA1C-493F-2146-A5F8-94F1AFB86118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2A55B-33BA-E8BD-560B-4A8ABB1574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F1429-A843-DBFE-869E-DAD9590861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241823-EF9F-8341-94DF-C3766B31F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410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3460"/>
            </a:gs>
            <a:gs pos="100000">
              <a:srgbClr val="16213E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46C3A-F334-6086-1DF7-ABE11CFE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8DDD0-915D-F0C3-BB12-105E9FABA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2C156-3734-2EEF-E3E1-03F55DFE62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ADFA1C-493F-2146-A5F8-94F1AFB86118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2A55B-33BA-E8BD-560B-4A8ABB1574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F1429-A843-DBFE-869E-DAD9590861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241823-EF9F-8341-94DF-C3766B31FA50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AccentBar"/>
          <p:cNvSpPr>
            <a:spLocks noGrp="1"/>
          </p:cNvSpPr>
          <p:nvPr>
            <p:ph type="body" sz="quarter" idx="1"/>
          </p:nvPr>
        </p:nvSpPr>
        <p:spPr>
          <a:xfrm>
            <a:off x="0" y="6096000"/>
            <a:ext cx="9144000" cy="96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410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0E6F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BCC5B0-E83D-154E-9E65-996106C73E82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6CE392-42E3-9A4F-8B07-E46D54EFEA08}"/>
              </a:ext>
            </a:extLst>
          </p:cNvPr>
          <p:cNvSpPr txBox="1"/>
          <p:nvPr/>
        </p:nvSpPr>
        <p:spPr>
          <a:xfrm>
            <a:off x="762000" y="1524000"/>
            <a:ext cx="10668000" cy="152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7200" b="1">
                <a:solidFill>
                  <a:srgbClr val="FFFFFF"/>
                </a:solidFill>
              </a:rPr>
              <a:t>AUTOTRAQ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15B79D-ACE2-694D-9264-1E4D579AD988}"/>
              </a:ext>
            </a:extLst>
          </p:cNvPr>
          <p:cNvSpPr txBox="1"/>
          <p:nvPr/>
        </p:nvSpPr>
        <p:spPr>
          <a:xfrm>
            <a:off x="762000" y="31496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>
                <a:solidFill>
                  <a:srgbClr val="E94560"/>
                </a:solidFill>
              </a:rPr>
              <a:t>Smart Auto Parts Inventory Management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E7EE97-D3E7-444C-BA8A-6E275589B6DC}"/>
              </a:ext>
            </a:extLst>
          </p:cNvPr>
          <p:cNvSpPr/>
          <p:nvPr/>
        </p:nvSpPr>
        <p:spPr>
          <a:xfrm>
            <a:off x="3556000" y="3886200"/>
            <a:ext cx="5080000" cy="381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2FFFF3-E4A6-734B-BBF8-0FB6B689F19B}"/>
              </a:ext>
            </a:extLst>
          </p:cNvPr>
          <p:cNvSpPr txBox="1"/>
          <p:nvPr/>
        </p:nvSpPr>
        <p:spPr>
          <a:xfrm>
            <a:off x="1016000" y="4038600"/>
            <a:ext cx="101600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>
                <a:solidFill>
                  <a:srgbClr val="B0C4DE"/>
                </a:solidFill>
              </a:rPr>
              <a:t>Transforming how auto repair shops and fleet managers
track, order, and manage parts — in real time.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5A98CFD-B410-864A-B9CA-8552DE9C9D10}"/>
              </a:ext>
            </a:extLst>
          </p:cNvPr>
          <p:cNvSpPr/>
          <p:nvPr/>
        </p:nvSpPr>
        <p:spPr>
          <a:xfrm>
            <a:off x="3810000" y="5588000"/>
            <a:ext cx="4572000" cy="635000"/>
          </a:xfrm>
          <a:prstGeom prst="round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CS490 • University of Northern Colorado</a:t>
            </a:r>
          </a:p>
        </p:txBody>
      </p:sp>
    </p:spTree>
    <p:extLst>
      <p:ext uri="{BB962C8B-B14F-4D97-AF65-F5344CB8AC3E}">
        <p14:creationId xmlns:p14="http://schemas.microsoft.com/office/powerpoint/2010/main" val="1537510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481A02-6187-364C-903E-138E14E2C1C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809D0A-C997-1A4F-AF34-04E99741A430}"/>
              </a:ext>
            </a:extLst>
          </p:cNvPr>
          <p:cNvSpPr txBox="1"/>
          <p:nvPr/>
        </p:nvSpPr>
        <p:spPr>
          <a:xfrm>
            <a:off x="508000" y="2794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E94560"/>
                </a:solidFill>
              </a:rPr>
              <a:t>THE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7F3CDA-3359-C848-9F13-81346510F8EA}"/>
              </a:ext>
            </a:extLst>
          </p:cNvPr>
          <p:cNvSpPr txBox="1"/>
          <p:nvPr/>
        </p:nvSpPr>
        <p:spPr>
          <a:xfrm>
            <a:off x="508000" y="698500"/>
            <a:ext cx="10668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800" b="1">
                <a:solidFill>
                  <a:srgbClr val="FFFFFF"/>
                </a:solidFill>
              </a:rPr>
              <a:t>Parts Management Is Broken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324AA85-A207-4149-B21E-BCFFFC5B6E04}"/>
              </a:ext>
            </a:extLst>
          </p:cNvPr>
          <p:cNvSpPr/>
          <p:nvPr/>
        </p:nvSpPr>
        <p:spPr>
          <a:xfrm>
            <a:off x="508000" y="1968500"/>
            <a:ext cx="5334000" cy="1905000"/>
          </a:xfrm>
          <a:prstGeom prst="roundRect">
            <a:avLst/>
          </a:prstGeom>
          <a:solidFill>
            <a:srgbClr val="0F3460"/>
          </a:solidFill>
          <a:ln w="19050" cap="flat" cmpd="sng" algn="ctr">
            <a:solidFill>
              <a:srgbClr val="E945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F1BD5E-EE13-5F4F-ACC4-796497158339}"/>
              </a:ext>
            </a:extLst>
          </p:cNvPr>
          <p:cNvSpPr txBox="1"/>
          <p:nvPr/>
        </p:nvSpPr>
        <p:spPr>
          <a:xfrm>
            <a:off x="698500" y="2159000"/>
            <a:ext cx="4953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E94560"/>
                </a:solidFill>
              </a:rPr>
              <a:t>⏱  Time Wasted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E3A6B4-077D-0742-8499-7069CFC71107}"/>
              </a:ext>
            </a:extLst>
          </p:cNvPr>
          <p:cNvSpPr txBox="1"/>
          <p:nvPr/>
        </p:nvSpPr>
        <p:spPr>
          <a:xfrm>
            <a:off x="698500" y="2730500"/>
            <a:ext cx="4953000" cy="952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B0C4DE"/>
                </a:solidFill>
              </a:rPr>
              <a:t>Staff spend hours manually searching for parts across suppliers and spreadsheets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7F7FC4E-79C5-FE44-A3AB-7669C30E2365}"/>
              </a:ext>
            </a:extLst>
          </p:cNvPr>
          <p:cNvSpPr/>
          <p:nvPr/>
        </p:nvSpPr>
        <p:spPr>
          <a:xfrm>
            <a:off x="6350000" y="1968500"/>
            <a:ext cx="5334000" cy="1905000"/>
          </a:xfrm>
          <a:prstGeom prst="roundRect">
            <a:avLst/>
          </a:prstGeom>
          <a:solidFill>
            <a:srgbClr val="0F3460"/>
          </a:solidFill>
          <a:ln w="19050" cap="flat" cmpd="sng" algn="ctr">
            <a:solidFill>
              <a:srgbClr val="E945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4C97FF-9924-EE45-9DE2-9DD058A66CB7}"/>
              </a:ext>
            </a:extLst>
          </p:cNvPr>
          <p:cNvSpPr txBox="1"/>
          <p:nvPr/>
        </p:nvSpPr>
        <p:spPr>
          <a:xfrm>
            <a:off x="6540500" y="2159000"/>
            <a:ext cx="4953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E94560"/>
                </a:solidFill>
              </a:rPr>
              <a:t>💸  Lost Revenue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937E33-40E3-2D41-9164-9EBE8A7BB87A}"/>
              </a:ext>
            </a:extLst>
          </p:cNvPr>
          <p:cNvSpPr txBox="1"/>
          <p:nvPr/>
        </p:nvSpPr>
        <p:spPr>
          <a:xfrm>
            <a:off x="6540500" y="2730500"/>
            <a:ext cx="4953000" cy="952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B0C4DE"/>
                </a:solidFill>
              </a:rPr>
              <a:t>Stockouts and overstock cost shops 10–20% of annual revenue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307BAFD-63B6-E340-9484-8ADFACAFCA01}"/>
              </a:ext>
            </a:extLst>
          </p:cNvPr>
          <p:cNvSpPr/>
          <p:nvPr/>
        </p:nvSpPr>
        <p:spPr>
          <a:xfrm>
            <a:off x="508000" y="4318000"/>
            <a:ext cx="5334000" cy="1905000"/>
          </a:xfrm>
          <a:prstGeom prst="roundRect">
            <a:avLst/>
          </a:prstGeom>
          <a:solidFill>
            <a:srgbClr val="0F3460"/>
          </a:solidFill>
          <a:ln w="19050" cap="flat" cmpd="sng" algn="ctr">
            <a:solidFill>
              <a:srgbClr val="E945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15168C-2B2D-674F-9CC9-A7456098FF26}"/>
              </a:ext>
            </a:extLst>
          </p:cNvPr>
          <p:cNvSpPr txBox="1"/>
          <p:nvPr/>
        </p:nvSpPr>
        <p:spPr>
          <a:xfrm>
            <a:off x="698500" y="4508500"/>
            <a:ext cx="4953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E94560"/>
                </a:solidFill>
              </a:rPr>
              <a:t>📋  No Visibility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F29F8B-1CC7-3A4E-BD8D-3A0821722C1B}"/>
              </a:ext>
            </a:extLst>
          </p:cNvPr>
          <p:cNvSpPr txBox="1"/>
          <p:nvPr/>
        </p:nvSpPr>
        <p:spPr>
          <a:xfrm>
            <a:off x="698500" y="5080000"/>
            <a:ext cx="4953000" cy="952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B0C4DE"/>
                </a:solidFill>
              </a:rPr>
              <a:t>No real-time view of inventory levels, leading to duplicate orders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80D9327-068F-ED49-ABA2-1A3F14AE9715}"/>
              </a:ext>
            </a:extLst>
          </p:cNvPr>
          <p:cNvSpPr/>
          <p:nvPr/>
        </p:nvSpPr>
        <p:spPr>
          <a:xfrm>
            <a:off x="6350000" y="4318000"/>
            <a:ext cx="5334000" cy="1905000"/>
          </a:xfrm>
          <a:prstGeom prst="roundRect">
            <a:avLst/>
          </a:prstGeom>
          <a:solidFill>
            <a:srgbClr val="0F3460"/>
          </a:solidFill>
          <a:ln w="19050" cap="flat" cmpd="sng" algn="ctr">
            <a:solidFill>
              <a:srgbClr val="E945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D3DBBE-A2C9-1949-82D9-6CE7E6487D0C}"/>
              </a:ext>
            </a:extLst>
          </p:cNvPr>
          <p:cNvSpPr txBox="1"/>
          <p:nvPr/>
        </p:nvSpPr>
        <p:spPr>
          <a:xfrm>
            <a:off x="6540500" y="4508500"/>
            <a:ext cx="4953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E94560"/>
                </a:solidFill>
              </a:rPr>
              <a:t>🔄  Manual Errors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286491-455A-8E49-859D-7E6DFCD580F0}"/>
              </a:ext>
            </a:extLst>
          </p:cNvPr>
          <p:cNvSpPr txBox="1"/>
          <p:nvPr/>
        </p:nvSpPr>
        <p:spPr>
          <a:xfrm>
            <a:off x="6540500" y="5080000"/>
            <a:ext cx="4953000" cy="952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B0C4DE"/>
                </a:solidFill>
              </a:rPr>
              <a:t>Paper-based and spreadsheet systems cause costly ordering mistakes</a:t>
            </a:r>
          </a:p>
        </p:txBody>
      </p:sp>
    </p:spTree>
    <p:extLst>
      <p:ext uri="{BB962C8B-B14F-4D97-AF65-F5344CB8AC3E}">
        <p14:creationId xmlns:p14="http://schemas.microsoft.com/office/powerpoint/2010/main" val="3448310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ABA5FB-2B34-F245-BBFA-3901BE07B69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C9B50B-B348-994C-96A5-EEDDE01F4CF6}"/>
              </a:ext>
            </a:extLst>
          </p:cNvPr>
          <p:cNvSpPr txBox="1"/>
          <p:nvPr/>
        </p:nvSpPr>
        <p:spPr>
          <a:xfrm>
            <a:off x="508000" y="2794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E94560"/>
                </a:solidFill>
              </a:rPr>
              <a:t>OUR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680CF4-ED3D-0342-A07E-C2BB6B4F2B24}"/>
              </a:ext>
            </a:extLst>
          </p:cNvPr>
          <p:cNvSpPr txBox="1"/>
          <p:nvPr/>
        </p:nvSpPr>
        <p:spPr>
          <a:xfrm>
            <a:off x="508000" y="660400"/>
            <a:ext cx="10668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FFFFFF"/>
                </a:solidFill>
              </a:rPr>
              <a:t>Introducing AUTOTRAQ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FC4736-021F-6B43-9E9C-EB9428B2700C}"/>
              </a:ext>
            </a:extLst>
          </p:cNvPr>
          <p:cNvSpPr/>
          <p:nvPr/>
        </p:nvSpPr>
        <p:spPr>
          <a:xfrm>
            <a:off x="0" y="1651000"/>
            <a:ext cx="5588000" cy="4826000"/>
          </a:xfrm>
          <a:prstGeom prst="rect">
            <a:avLst/>
          </a:prstGeom>
          <a:solidFill>
            <a:srgbClr val="1621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8C61F0-4712-6443-843F-3A3C9768F350}"/>
              </a:ext>
            </a:extLst>
          </p:cNvPr>
          <p:cNvSpPr txBox="1"/>
          <p:nvPr/>
        </p:nvSpPr>
        <p:spPr>
          <a:xfrm>
            <a:off x="381000" y="2540000"/>
            <a:ext cx="4826000" cy="228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</a:rPr>
              <a:t>One platform.
All your parts.
Always in control.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6AC3AD-1552-9E49-BEDF-6AF2202FBEF5}"/>
              </a:ext>
            </a:extLst>
          </p:cNvPr>
          <p:cNvSpPr txBox="1"/>
          <p:nvPr/>
        </p:nvSpPr>
        <p:spPr>
          <a:xfrm>
            <a:off x="381000" y="4953000"/>
            <a:ext cx="48260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0C4DE"/>
                </a:solidFill>
              </a:rPr>
              <a:t>AUTOTRAQ is a cloud-based inventory platform that gives auto shops and fleet operators real-time visibility, smart reordering, and complete parts traceability.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7CE35A6-AE48-C043-A000-5CACDEC0EF47}"/>
              </a:ext>
            </a:extLst>
          </p:cNvPr>
          <p:cNvSpPr/>
          <p:nvPr/>
        </p:nvSpPr>
        <p:spPr>
          <a:xfrm>
            <a:off x="5842000" y="1841500"/>
            <a:ext cx="635000" cy="635000"/>
          </a:xfrm>
          <a:prstGeom prst="ellipse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BF998B-3789-D143-991D-BAB6BB91E255}"/>
              </a:ext>
            </a:extLst>
          </p:cNvPr>
          <p:cNvSpPr txBox="1"/>
          <p:nvPr/>
        </p:nvSpPr>
        <p:spPr>
          <a:xfrm>
            <a:off x="6667500" y="18415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Real-Time Inventory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9DC6A1-6712-C048-B9BC-AF19A73D4EEC}"/>
              </a:ext>
            </a:extLst>
          </p:cNvPr>
          <p:cNvSpPr txBox="1"/>
          <p:nvPr/>
        </p:nvSpPr>
        <p:spPr>
          <a:xfrm>
            <a:off x="6667500" y="2247900"/>
            <a:ext cx="4953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0C4DE"/>
                </a:solidFill>
              </a:rPr>
              <a:t>Live stock counts across all locations and vehicles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1F96A4-0B06-4C43-895B-7DDFBE82D30A}"/>
              </a:ext>
            </a:extLst>
          </p:cNvPr>
          <p:cNvSpPr/>
          <p:nvPr/>
        </p:nvSpPr>
        <p:spPr>
          <a:xfrm>
            <a:off x="5842000" y="2857500"/>
            <a:ext cx="5842000" cy="12700"/>
          </a:xfrm>
          <a:prstGeom prst="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5F4D6D9-C045-9041-8449-D2006E62591A}"/>
              </a:ext>
            </a:extLst>
          </p:cNvPr>
          <p:cNvSpPr/>
          <p:nvPr/>
        </p:nvSpPr>
        <p:spPr>
          <a:xfrm>
            <a:off x="5842000" y="3340100"/>
            <a:ext cx="635000" cy="635000"/>
          </a:xfrm>
          <a:prstGeom prst="ellipse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ED287C-E7CD-CA4A-9AA4-5200DF2505FF}"/>
              </a:ext>
            </a:extLst>
          </p:cNvPr>
          <p:cNvSpPr txBox="1"/>
          <p:nvPr/>
        </p:nvSpPr>
        <p:spPr>
          <a:xfrm>
            <a:off x="6667500" y="33401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Smart Reordering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011172-55B9-5045-B7B8-A70598375FD1}"/>
              </a:ext>
            </a:extLst>
          </p:cNvPr>
          <p:cNvSpPr txBox="1"/>
          <p:nvPr/>
        </p:nvSpPr>
        <p:spPr>
          <a:xfrm>
            <a:off x="6667500" y="3746500"/>
            <a:ext cx="4953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0C4DE"/>
                </a:solidFill>
              </a:rPr>
              <a:t>Auto-alerts and one-click ordering when stock runs low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3A8701-E683-C147-86FC-D6AC0CF058CE}"/>
              </a:ext>
            </a:extLst>
          </p:cNvPr>
          <p:cNvSpPr/>
          <p:nvPr/>
        </p:nvSpPr>
        <p:spPr>
          <a:xfrm>
            <a:off x="5842000" y="4356100"/>
            <a:ext cx="5842000" cy="12700"/>
          </a:xfrm>
          <a:prstGeom prst="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BF1CDFE-C5AD-F943-882A-2C86799D1F4F}"/>
              </a:ext>
            </a:extLst>
          </p:cNvPr>
          <p:cNvSpPr/>
          <p:nvPr/>
        </p:nvSpPr>
        <p:spPr>
          <a:xfrm>
            <a:off x="5842000" y="4838700"/>
            <a:ext cx="635000" cy="635000"/>
          </a:xfrm>
          <a:prstGeom prst="ellipse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547C9D-5758-2C4D-8404-C1F610E76EDA}"/>
              </a:ext>
            </a:extLst>
          </p:cNvPr>
          <p:cNvSpPr txBox="1"/>
          <p:nvPr/>
        </p:nvSpPr>
        <p:spPr>
          <a:xfrm>
            <a:off x="6667500" y="48387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Parts Traceability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A8258E-EB41-6542-B356-FCF1B68B5CBE}"/>
              </a:ext>
            </a:extLst>
          </p:cNvPr>
          <p:cNvSpPr txBox="1"/>
          <p:nvPr/>
        </p:nvSpPr>
        <p:spPr>
          <a:xfrm>
            <a:off x="6667500" y="5245100"/>
            <a:ext cx="4953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0C4DE"/>
                </a:solidFill>
              </a:rPr>
              <a:t>Full audit trail from supplier to job completion</a:t>
            </a:r>
          </a:p>
        </p:txBody>
      </p:sp>
    </p:spTree>
    <p:extLst>
      <p:ext uri="{BB962C8B-B14F-4D97-AF65-F5344CB8AC3E}">
        <p14:creationId xmlns:p14="http://schemas.microsoft.com/office/powerpoint/2010/main" val="2403530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DDC63A-4EF4-7341-AB32-013596E58FE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187066-64C9-3442-B18E-2A830FE6A75B}"/>
              </a:ext>
            </a:extLst>
          </p:cNvPr>
          <p:cNvSpPr txBox="1"/>
          <p:nvPr/>
        </p:nvSpPr>
        <p:spPr>
          <a:xfrm>
            <a:off x="508000" y="2794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E94560"/>
                </a:solidFill>
              </a:rPr>
              <a:t>KEY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D4085F-3E04-8544-9460-382FA463F018}"/>
              </a:ext>
            </a:extLst>
          </p:cNvPr>
          <p:cNvSpPr txBox="1"/>
          <p:nvPr/>
        </p:nvSpPr>
        <p:spPr>
          <a:xfrm>
            <a:off x="508000" y="660400"/>
            <a:ext cx="11176000" cy="825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Everything You Need, Nothing You Don't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76DB461-1CED-F048-B4D3-538B979FF187}"/>
              </a:ext>
            </a:extLst>
          </p:cNvPr>
          <p:cNvSpPr/>
          <p:nvPr/>
        </p:nvSpPr>
        <p:spPr>
          <a:xfrm>
            <a:off x="381000" y="1778000"/>
            <a:ext cx="2184400" cy="4318000"/>
          </a:xfrm>
          <a:prstGeom prst="round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5089BF-F3D7-5E44-B809-7FFFF770AF69}"/>
              </a:ext>
            </a:extLst>
          </p:cNvPr>
          <p:cNvSpPr/>
          <p:nvPr/>
        </p:nvSpPr>
        <p:spPr>
          <a:xfrm>
            <a:off x="381000" y="1778000"/>
            <a:ext cx="2184400" cy="762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DA4D9D-22C9-334A-9E5B-DDB43B43E115}"/>
              </a:ext>
            </a:extLst>
          </p:cNvPr>
          <p:cNvSpPr/>
          <p:nvPr/>
        </p:nvSpPr>
        <p:spPr>
          <a:xfrm>
            <a:off x="1092200" y="2095500"/>
            <a:ext cx="762000" cy="762000"/>
          </a:xfrm>
          <a:prstGeom prst="ellipse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FDF49A-0C32-C645-AC2B-2BED8E4672D0}"/>
              </a:ext>
            </a:extLst>
          </p:cNvPr>
          <p:cNvSpPr txBox="1"/>
          <p:nvPr/>
        </p:nvSpPr>
        <p:spPr>
          <a:xfrm>
            <a:off x="508000" y="3048000"/>
            <a:ext cx="19304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Inventory
Tracking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E919C1-AD94-8248-9AA8-9AF37D95A15B}"/>
              </a:ext>
            </a:extLst>
          </p:cNvPr>
          <p:cNvSpPr txBox="1"/>
          <p:nvPr/>
        </p:nvSpPr>
        <p:spPr>
          <a:xfrm>
            <a:off x="508000" y="3911600"/>
            <a:ext cx="19304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Live stock levels across all locations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C923048-A56E-6241-88D2-1DB96BD45642}"/>
              </a:ext>
            </a:extLst>
          </p:cNvPr>
          <p:cNvSpPr/>
          <p:nvPr/>
        </p:nvSpPr>
        <p:spPr>
          <a:xfrm>
            <a:off x="2717800" y="1778000"/>
            <a:ext cx="2184400" cy="4318000"/>
          </a:xfrm>
          <a:prstGeom prst="round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403CA2-FE40-A848-B7B4-D91DD378E892}"/>
              </a:ext>
            </a:extLst>
          </p:cNvPr>
          <p:cNvSpPr/>
          <p:nvPr/>
        </p:nvSpPr>
        <p:spPr>
          <a:xfrm>
            <a:off x="2717800" y="1778000"/>
            <a:ext cx="2184400" cy="76200"/>
          </a:xfrm>
          <a:prstGeom prst="rect">
            <a:avLst/>
          </a:prstGeom>
          <a:solidFill>
            <a:srgbClr val="3498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965263B-4B1B-7C42-BA23-1704121B7379}"/>
              </a:ext>
            </a:extLst>
          </p:cNvPr>
          <p:cNvSpPr/>
          <p:nvPr/>
        </p:nvSpPr>
        <p:spPr>
          <a:xfrm>
            <a:off x="3429000" y="2095500"/>
            <a:ext cx="762000" cy="762000"/>
          </a:xfrm>
          <a:prstGeom prst="ellipse">
            <a:avLst/>
          </a:prstGeom>
          <a:solidFill>
            <a:srgbClr val="3498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</a:rPr>
              <a:t>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C91EF1-0DCE-3944-A0D5-FE3DB47B56C9}"/>
              </a:ext>
            </a:extLst>
          </p:cNvPr>
          <p:cNvSpPr txBox="1"/>
          <p:nvPr/>
        </p:nvSpPr>
        <p:spPr>
          <a:xfrm>
            <a:off x="2844800" y="3048000"/>
            <a:ext cx="19304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Auto
Reorder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3CB9D3-56AE-B348-A4CF-EF3BF5FD8604}"/>
              </a:ext>
            </a:extLst>
          </p:cNvPr>
          <p:cNvSpPr txBox="1"/>
          <p:nvPr/>
        </p:nvSpPr>
        <p:spPr>
          <a:xfrm>
            <a:off x="2844800" y="3911600"/>
            <a:ext cx="19304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Set thresholds, let AUTOTRAQ order for you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0677DFD-007F-CD4E-9883-7029FD8B975F}"/>
              </a:ext>
            </a:extLst>
          </p:cNvPr>
          <p:cNvSpPr/>
          <p:nvPr/>
        </p:nvSpPr>
        <p:spPr>
          <a:xfrm>
            <a:off x="5054600" y="1778000"/>
            <a:ext cx="2184400" cy="4318000"/>
          </a:xfrm>
          <a:prstGeom prst="round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D90A80-12C1-DA40-AA71-1A465371C4D7}"/>
              </a:ext>
            </a:extLst>
          </p:cNvPr>
          <p:cNvSpPr/>
          <p:nvPr/>
        </p:nvSpPr>
        <p:spPr>
          <a:xfrm>
            <a:off x="5054600" y="1778000"/>
            <a:ext cx="2184400" cy="76200"/>
          </a:xfrm>
          <a:prstGeom prst="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EECD038-35CF-9845-AC7B-59852AAEBC56}"/>
              </a:ext>
            </a:extLst>
          </p:cNvPr>
          <p:cNvSpPr/>
          <p:nvPr/>
        </p:nvSpPr>
        <p:spPr>
          <a:xfrm>
            <a:off x="5765800" y="2095500"/>
            <a:ext cx="762000" cy="762000"/>
          </a:xfrm>
          <a:prstGeom prst="ellipse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A1AED1-0527-0C4C-AE86-C8C30BBEEB31}"/>
              </a:ext>
            </a:extLst>
          </p:cNvPr>
          <p:cNvSpPr txBox="1"/>
          <p:nvPr/>
        </p:nvSpPr>
        <p:spPr>
          <a:xfrm>
            <a:off x="5181600" y="3048000"/>
            <a:ext cx="19304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Supplier
Integration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BB1C5B-8AD7-284B-A17B-88AC23EC2BC1}"/>
              </a:ext>
            </a:extLst>
          </p:cNvPr>
          <p:cNvSpPr txBox="1"/>
          <p:nvPr/>
        </p:nvSpPr>
        <p:spPr>
          <a:xfrm>
            <a:off x="5181600" y="3911600"/>
            <a:ext cx="19304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Connect directly to your suppliers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09FBF2C-EC27-4F46-86A4-A9C3606EA91E}"/>
              </a:ext>
            </a:extLst>
          </p:cNvPr>
          <p:cNvSpPr/>
          <p:nvPr/>
        </p:nvSpPr>
        <p:spPr>
          <a:xfrm>
            <a:off x="7391400" y="1778000"/>
            <a:ext cx="2184400" cy="4318000"/>
          </a:xfrm>
          <a:prstGeom prst="round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9CE62A-74B3-BB43-85E4-B635B5807B1E}"/>
              </a:ext>
            </a:extLst>
          </p:cNvPr>
          <p:cNvSpPr/>
          <p:nvPr/>
        </p:nvSpPr>
        <p:spPr>
          <a:xfrm>
            <a:off x="7391400" y="1778000"/>
            <a:ext cx="2184400" cy="76200"/>
          </a:xfrm>
          <a:prstGeom prst="rect">
            <a:avLst/>
          </a:prstGeom>
          <a:solidFill>
            <a:srgbClr val="F5A62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BA8F0F3-55C7-2143-BC91-3EEEFBF1867D}"/>
              </a:ext>
            </a:extLst>
          </p:cNvPr>
          <p:cNvSpPr/>
          <p:nvPr/>
        </p:nvSpPr>
        <p:spPr>
          <a:xfrm>
            <a:off x="8102600" y="2095500"/>
            <a:ext cx="762000" cy="762000"/>
          </a:xfrm>
          <a:prstGeom prst="ellipse">
            <a:avLst/>
          </a:prstGeom>
          <a:solidFill>
            <a:srgbClr val="F5A62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314FA8-B56E-754E-A510-A33B242EE38E}"/>
              </a:ext>
            </a:extLst>
          </p:cNvPr>
          <p:cNvSpPr txBox="1"/>
          <p:nvPr/>
        </p:nvSpPr>
        <p:spPr>
          <a:xfrm>
            <a:off x="7518400" y="3048000"/>
            <a:ext cx="19304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Reports
&amp; Analytics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43E58B-5D64-994F-8DC5-E85EBEC23CED}"/>
              </a:ext>
            </a:extLst>
          </p:cNvPr>
          <p:cNvSpPr txBox="1"/>
          <p:nvPr/>
        </p:nvSpPr>
        <p:spPr>
          <a:xfrm>
            <a:off x="7518400" y="3911600"/>
            <a:ext cx="19304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Costs, usage trends, and waste metrics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5BF8E5F-BC40-0A4F-94AC-4254F6FF3FF2}"/>
              </a:ext>
            </a:extLst>
          </p:cNvPr>
          <p:cNvSpPr/>
          <p:nvPr/>
        </p:nvSpPr>
        <p:spPr>
          <a:xfrm>
            <a:off x="9728200" y="1778000"/>
            <a:ext cx="2184400" cy="4318000"/>
          </a:xfrm>
          <a:prstGeom prst="round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B87395-FAE7-A24B-A87F-6459C5F0392B}"/>
              </a:ext>
            </a:extLst>
          </p:cNvPr>
          <p:cNvSpPr/>
          <p:nvPr/>
        </p:nvSpPr>
        <p:spPr>
          <a:xfrm>
            <a:off x="9728200" y="1778000"/>
            <a:ext cx="2184400" cy="76200"/>
          </a:xfrm>
          <a:prstGeom prst="rect">
            <a:avLst/>
          </a:prstGeom>
          <a:solidFill>
            <a:srgbClr val="53348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B2F1FAF-69AD-3D45-BE34-22BB5A9D352F}"/>
              </a:ext>
            </a:extLst>
          </p:cNvPr>
          <p:cNvSpPr/>
          <p:nvPr/>
        </p:nvSpPr>
        <p:spPr>
          <a:xfrm>
            <a:off x="10439400" y="2095500"/>
            <a:ext cx="762000" cy="762000"/>
          </a:xfrm>
          <a:prstGeom prst="ellipse">
            <a:avLst/>
          </a:prstGeom>
          <a:solidFill>
            <a:srgbClr val="53348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2A7EDD-FF75-2E42-8BB5-4BDC441AB69D}"/>
              </a:ext>
            </a:extLst>
          </p:cNvPr>
          <p:cNvSpPr txBox="1"/>
          <p:nvPr/>
        </p:nvSpPr>
        <p:spPr>
          <a:xfrm>
            <a:off x="9855200" y="3048000"/>
            <a:ext cx="19304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Mobile
Access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226560-476F-A04B-AA8F-9AA3CB006675}"/>
              </a:ext>
            </a:extLst>
          </p:cNvPr>
          <p:cNvSpPr txBox="1"/>
          <p:nvPr/>
        </p:nvSpPr>
        <p:spPr>
          <a:xfrm>
            <a:off x="9855200" y="3911600"/>
            <a:ext cx="19304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Manage inventory from your phone or tablet</a:t>
            </a:r>
          </a:p>
        </p:txBody>
      </p:sp>
    </p:spTree>
    <p:extLst>
      <p:ext uri="{BB962C8B-B14F-4D97-AF65-F5344CB8AC3E}">
        <p14:creationId xmlns:p14="http://schemas.microsoft.com/office/powerpoint/2010/main" val="3459411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808652-0889-A44C-84AC-239075FFFD2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D6F618-0B67-2145-AE8F-8358A7CC42D1}"/>
              </a:ext>
            </a:extLst>
          </p:cNvPr>
          <p:cNvSpPr txBox="1"/>
          <p:nvPr/>
        </p:nvSpPr>
        <p:spPr>
          <a:xfrm>
            <a:off x="508000" y="2794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E94560"/>
                </a:solidFill>
              </a:rPr>
              <a:t>HOW IT WORKS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FD0548-39A1-1E4D-BA80-A9F92E7B773C}"/>
              </a:ext>
            </a:extLst>
          </p:cNvPr>
          <p:cNvSpPr txBox="1"/>
          <p:nvPr/>
        </p:nvSpPr>
        <p:spPr>
          <a:xfrm>
            <a:off x="508000" y="660400"/>
            <a:ext cx="11176000" cy="825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From Setup to Savings in 4 Simple Steps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67FE219-BB84-CE46-AE33-9F87C91EED04}"/>
              </a:ext>
            </a:extLst>
          </p:cNvPr>
          <p:cNvSpPr/>
          <p:nvPr/>
        </p:nvSpPr>
        <p:spPr>
          <a:xfrm>
            <a:off x="1524000" y="1879600"/>
            <a:ext cx="1016000" cy="1016000"/>
          </a:xfrm>
          <a:prstGeom prst="ellipse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091634D-1EA3-2049-9F5B-81509725A546}"/>
              </a:ext>
            </a:extLst>
          </p:cNvPr>
          <p:cNvSpPr/>
          <p:nvPr/>
        </p:nvSpPr>
        <p:spPr>
          <a:xfrm>
            <a:off x="2895600" y="2184400"/>
            <a:ext cx="508000" cy="381000"/>
          </a:xfrm>
          <a:prstGeom prst="rightArrow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892D60-6346-5A40-9796-7DDFC255990F}"/>
              </a:ext>
            </a:extLst>
          </p:cNvPr>
          <p:cNvSpPr txBox="1"/>
          <p:nvPr/>
        </p:nvSpPr>
        <p:spPr>
          <a:xfrm>
            <a:off x="889000" y="3048000"/>
            <a:ext cx="2286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Connect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E484A9-8DFF-924A-A8F2-ED3E2B803A04}"/>
              </a:ext>
            </a:extLst>
          </p:cNvPr>
          <p:cNvSpPr txBox="1"/>
          <p:nvPr/>
        </p:nvSpPr>
        <p:spPr>
          <a:xfrm>
            <a:off x="889000" y="3619500"/>
            <a:ext cx="22860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0C4DE"/>
                </a:solidFill>
              </a:rPr>
              <a:t>Link your parts suppliers and existing inventory systems in minutes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BC3087-AE02-8C47-9B11-D3793792AC91}"/>
              </a:ext>
            </a:extLst>
          </p:cNvPr>
          <p:cNvSpPr/>
          <p:nvPr/>
        </p:nvSpPr>
        <p:spPr>
          <a:xfrm>
            <a:off x="4318000" y="1879600"/>
            <a:ext cx="1016000" cy="1016000"/>
          </a:xfrm>
          <a:prstGeom prst="ellipse">
            <a:avLst/>
          </a:prstGeom>
          <a:solidFill>
            <a:srgbClr val="3498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21351683-6262-5840-B4C3-70CF03745362}"/>
              </a:ext>
            </a:extLst>
          </p:cNvPr>
          <p:cNvSpPr/>
          <p:nvPr/>
        </p:nvSpPr>
        <p:spPr>
          <a:xfrm>
            <a:off x="5689600" y="2184400"/>
            <a:ext cx="508000" cy="381000"/>
          </a:xfrm>
          <a:prstGeom prst="rightArrow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0A7FB9-2CC9-8B46-B318-7AF65AD67592}"/>
              </a:ext>
            </a:extLst>
          </p:cNvPr>
          <p:cNvSpPr txBox="1"/>
          <p:nvPr/>
        </p:nvSpPr>
        <p:spPr>
          <a:xfrm>
            <a:off x="3683000" y="3048000"/>
            <a:ext cx="2286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Catalog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8C71A6-511D-7F41-B7EC-AC55579BD3CA}"/>
              </a:ext>
            </a:extLst>
          </p:cNvPr>
          <p:cNvSpPr txBox="1"/>
          <p:nvPr/>
        </p:nvSpPr>
        <p:spPr>
          <a:xfrm>
            <a:off x="3683000" y="3619500"/>
            <a:ext cx="22860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0C4DE"/>
                </a:solidFill>
              </a:rPr>
              <a:t>Import or scan your parts to build a complete digital inventory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8D4E68D-19CB-6940-B2DA-D15B6FAC2059}"/>
              </a:ext>
            </a:extLst>
          </p:cNvPr>
          <p:cNvSpPr/>
          <p:nvPr/>
        </p:nvSpPr>
        <p:spPr>
          <a:xfrm>
            <a:off x="7112000" y="1879600"/>
            <a:ext cx="1016000" cy="1016000"/>
          </a:xfrm>
          <a:prstGeom prst="ellipse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458E15D7-96C5-784C-8CA9-D3600436492A}"/>
              </a:ext>
            </a:extLst>
          </p:cNvPr>
          <p:cNvSpPr/>
          <p:nvPr/>
        </p:nvSpPr>
        <p:spPr>
          <a:xfrm>
            <a:off x="8483600" y="2184400"/>
            <a:ext cx="508000" cy="381000"/>
          </a:xfrm>
          <a:prstGeom prst="rightArrow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C06684-D9B3-534D-8BA4-C3E10EB53FD1}"/>
              </a:ext>
            </a:extLst>
          </p:cNvPr>
          <p:cNvSpPr txBox="1"/>
          <p:nvPr/>
        </p:nvSpPr>
        <p:spPr>
          <a:xfrm>
            <a:off x="6477000" y="3048000"/>
            <a:ext cx="2286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Track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C741E3-40D2-514F-86DA-640B2D861F0F}"/>
              </a:ext>
            </a:extLst>
          </p:cNvPr>
          <p:cNvSpPr txBox="1"/>
          <p:nvPr/>
        </p:nvSpPr>
        <p:spPr>
          <a:xfrm>
            <a:off x="6477000" y="3619500"/>
            <a:ext cx="22860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0C4DE"/>
                </a:solidFill>
              </a:rPr>
              <a:t>Monitor stock levels in real time as parts are used on jobs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4D9EC5-E98F-C34D-A6F8-2F316405F849}"/>
              </a:ext>
            </a:extLst>
          </p:cNvPr>
          <p:cNvSpPr/>
          <p:nvPr/>
        </p:nvSpPr>
        <p:spPr>
          <a:xfrm>
            <a:off x="9906000" y="1879600"/>
            <a:ext cx="1016000" cy="1016000"/>
          </a:xfrm>
          <a:prstGeom prst="ellipse">
            <a:avLst/>
          </a:prstGeom>
          <a:solidFill>
            <a:srgbClr val="F5A62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6208A1-29D4-534C-9620-3029D51EA107}"/>
              </a:ext>
            </a:extLst>
          </p:cNvPr>
          <p:cNvSpPr txBox="1"/>
          <p:nvPr/>
        </p:nvSpPr>
        <p:spPr>
          <a:xfrm>
            <a:off x="9271000" y="3048000"/>
            <a:ext cx="2286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Optimize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0A1F20-D471-6744-BF0A-895278A9955F}"/>
              </a:ext>
            </a:extLst>
          </p:cNvPr>
          <p:cNvSpPr txBox="1"/>
          <p:nvPr/>
        </p:nvSpPr>
        <p:spPr>
          <a:xfrm>
            <a:off x="9271000" y="3619500"/>
            <a:ext cx="22860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0C4DE"/>
                </a:solidFill>
              </a:rPr>
              <a:t>Use analytics to cut waste, avoid stockouts, and save money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598613-AA1C-8745-AAE8-452449ACE6D6}"/>
              </a:ext>
            </a:extLst>
          </p:cNvPr>
          <p:cNvSpPr/>
          <p:nvPr/>
        </p:nvSpPr>
        <p:spPr>
          <a:xfrm>
            <a:off x="0" y="5461000"/>
            <a:ext cx="12192000" cy="1143000"/>
          </a:xfrm>
          <a:prstGeom prst="rect">
            <a:avLst/>
          </a:prstGeom>
          <a:solidFill>
            <a:srgbClr val="1621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C6904C-F32A-2E43-9E9F-4E80A1F83916}"/>
              </a:ext>
            </a:extLst>
          </p:cNvPr>
          <p:cNvSpPr txBox="1"/>
          <p:nvPr/>
        </p:nvSpPr>
        <p:spPr>
          <a:xfrm>
            <a:off x="1651000" y="55880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E94560"/>
                </a:solidFill>
              </a:rPr>
              <a:t>&lt; 1 Day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973EC9-E391-474E-816E-72ECE5309EDB}"/>
              </a:ext>
            </a:extLst>
          </p:cNvPr>
          <p:cNvSpPr txBox="1"/>
          <p:nvPr/>
        </p:nvSpPr>
        <p:spPr>
          <a:xfrm>
            <a:off x="1651000" y="60325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Setup Time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8B283B-99C2-7D43-92A5-416AA8351C24}"/>
              </a:ext>
            </a:extLst>
          </p:cNvPr>
          <p:cNvSpPr txBox="1"/>
          <p:nvPr/>
        </p:nvSpPr>
        <p:spPr>
          <a:xfrm>
            <a:off x="5461000" y="55880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E94560"/>
                </a:solidFill>
              </a:rPr>
              <a:t>30%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D0B751-AAD2-C049-AC19-44ECCC11B2D9}"/>
              </a:ext>
            </a:extLst>
          </p:cNvPr>
          <p:cNvSpPr txBox="1"/>
          <p:nvPr/>
        </p:nvSpPr>
        <p:spPr>
          <a:xfrm>
            <a:off x="5461000" y="60325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Average Cost Savings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824927-E024-9D4D-9B50-342086AB169F}"/>
              </a:ext>
            </a:extLst>
          </p:cNvPr>
          <p:cNvSpPr txBox="1"/>
          <p:nvPr/>
        </p:nvSpPr>
        <p:spPr>
          <a:xfrm>
            <a:off x="9271000" y="55880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E94560"/>
                </a:solidFill>
              </a:rPr>
              <a:t>99.9%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7EBF82-09B9-9048-A053-AF71B7F595BA}"/>
              </a:ext>
            </a:extLst>
          </p:cNvPr>
          <p:cNvSpPr txBox="1"/>
          <p:nvPr/>
        </p:nvSpPr>
        <p:spPr>
          <a:xfrm>
            <a:off x="9271000" y="60325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Uptime SLA</a:t>
            </a:r>
          </a:p>
        </p:txBody>
      </p:sp>
    </p:spTree>
    <p:extLst>
      <p:ext uri="{BB962C8B-B14F-4D97-AF65-F5344CB8AC3E}">
        <p14:creationId xmlns:p14="http://schemas.microsoft.com/office/powerpoint/2010/main" val="2852343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A3ABA6-A22B-E147-9781-2BE5F1E377E4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062021-9EB1-6843-ACF5-441498649575}"/>
              </a:ext>
            </a:extLst>
          </p:cNvPr>
          <p:cNvSpPr txBox="1"/>
          <p:nvPr/>
        </p:nvSpPr>
        <p:spPr>
          <a:xfrm>
            <a:off x="508000" y="2794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E94560"/>
                </a:solidFill>
              </a:rPr>
              <a:t>TARGET MARKETS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D73A95-F51C-164D-985B-BAE99DF6DB94}"/>
              </a:ext>
            </a:extLst>
          </p:cNvPr>
          <p:cNvSpPr txBox="1"/>
          <p:nvPr/>
        </p:nvSpPr>
        <p:spPr>
          <a:xfrm>
            <a:off x="508000" y="660400"/>
            <a:ext cx="11176000" cy="825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Built for Two Powerhouse Industries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10B20B9-115B-D24F-AC5B-E8F0401A7A54}"/>
              </a:ext>
            </a:extLst>
          </p:cNvPr>
          <p:cNvSpPr/>
          <p:nvPr/>
        </p:nvSpPr>
        <p:spPr>
          <a:xfrm>
            <a:off x="508000" y="1778000"/>
            <a:ext cx="5270500" cy="4445000"/>
          </a:xfrm>
          <a:prstGeom prst="round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887429-3B4F-5840-8ED2-F90B7E7D08B7}"/>
              </a:ext>
            </a:extLst>
          </p:cNvPr>
          <p:cNvSpPr/>
          <p:nvPr/>
        </p:nvSpPr>
        <p:spPr>
          <a:xfrm>
            <a:off x="508000" y="1778000"/>
            <a:ext cx="5270500" cy="762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303F04-FC03-934D-BFF6-41DA7ECE0650}"/>
              </a:ext>
            </a:extLst>
          </p:cNvPr>
          <p:cNvSpPr txBox="1"/>
          <p:nvPr/>
        </p:nvSpPr>
        <p:spPr>
          <a:xfrm>
            <a:off x="762000" y="2095500"/>
            <a:ext cx="4762500" cy="571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🔧  Auto Repair Shops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FE0736-D974-A04B-B67B-51E806CA8421}"/>
              </a:ext>
            </a:extLst>
          </p:cNvPr>
          <p:cNvSpPr txBox="1"/>
          <p:nvPr/>
        </p:nvSpPr>
        <p:spPr>
          <a:xfrm>
            <a:off x="825500" y="2794000"/>
            <a:ext cx="4699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0C4DE"/>
                </a:solidFill>
              </a:rPr>
              <a:t>→  160,000+ independent shops in the U.S.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52BCF3-18FC-0F4E-9D67-2A54C6D944BE}"/>
              </a:ext>
            </a:extLst>
          </p:cNvPr>
          <p:cNvSpPr txBox="1"/>
          <p:nvPr/>
        </p:nvSpPr>
        <p:spPr>
          <a:xfrm>
            <a:off x="825500" y="3365500"/>
            <a:ext cx="4699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0C4DE"/>
                </a:solidFill>
              </a:rPr>
              <a:t>→  Average shop carries 2,000–5,000 SKUs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96E834-5404-6846-BDA4-045FF670C4E1}"/>
              </a:ext>
            </a:extLst>
          </p:cNvPr>
          <p:cNvSpPr txBox="1"/>
          <p:nvPr/>
        </p:nvSpPr>
        <p:spPr>
          <a:xfrm>
            <a:off x="825500" y="3937000"/>
            <a:ext cx="4699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0C4DE"/>
                </a:solidFill>
              </a:rPr>
              <a:t>→  Parts account for 40–60% of revenue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206AE4-DD85-BA4F-B4A6-290C0A66F9B7}"/>
              </a:ext>
            </a:extLst>
          </p:cNvPr>
          <p:cNvSpPr txBox="1"/>
          <p:nvPr/>
        </p:nvSpPr>
        <p:spPr>
          <a:xfrm>
            <a:off x="825500" y="4508500"/>
            <a:ext cx="4699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0C4DE"/>
                </a:solidFill>
              </a:rPr>
              <a:t>→  Most still rely on paper or basic spreadsheets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6E56F28-8CDA-1C4E-A676-76332DEEDA33}"/>
              </a:ext>
            </a:extLst>
          </p:cNvPr>
          <p:cNvSpPr/>
          <p:nvPr/>
        </p:nvSpPr>
        <p:spPr>
          <a:xfrm>
            <a:off x="6413500" y="1778000"/>
            <a:ext cx="5270500" cy="4445000"/>
          </a:xfrm>
          <a:prstGeom prst="round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A28B1-9FF3-D549-B9A2-B66B86A3B42F}"/>
              </a:ext>
            </a:extLst>
          </p:cNvPr>
          <p:cNvSpPr/>
          <p:nvPr/>
        </p:nvSpPr>
        <p:spPr>
          <a:xfrm>
            <a:off x="6413500" y="1778000"/>
            <a:ext cx="5270500" cy="76200"/>
          </a:xfrm>
          <a:prstGeom prst="rect">
            <a:avLst/>
          </a:prstGeom>
          <a:solidFill>
            <a:srgbClr val="3498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AF5A60-4E87-1A40-A25F-6DBA6514D6BA}"/>
              </a:ext>
            </a:extLst>
          </p:cNvPr>
          <p:cNvSpPr txBox="1"/>
          <p:nvPr/>
        </p:nvSpPr>
        <p:spPr>
          <a:xfrm>
            <a:off x="6667500" y="2095500"/>
            <a:ext cx="4762500" cy="571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🚛  Fleet Management Companies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C5B93D-36B5-3942-91CE-BF933CBD01F1}"/>
              </a:ext>
            </a:extLst>
          </p:cNvPr>
          <p:cNvSpPr txBox="1"/>
          <p:nvPr/>
        </p:nvSpPr>
        <p:spPr>
          <a:xfrm>
            <a:off x="6731000" y="2794000"/>
            <a:ext cx="4699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0C4DE"/>
                </a:solidFill>
              </a:rPr>
              <a:t>→  500,000+ commercial fleets across the U.S.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1A2AA9-9DEE-D74F-80F5-D64DF3A951F2}"/>
              </a:ext>
            </a:extLst>
          </p:cNvPr>
          <p:cNvSpPr txBox="1"/>
          <p:nvPr/>
        </p:nvSpPr>
        <p:spPr>
          <a:xfrm>
            <a:off x="6731000" y="3365500"/>
            <a:ext cx="4699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0C4DE"/>
                </a:solidFill>
              </a:rPr>
              <a:t>→  Unplanned downtime costs $700/hr per vehicle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D530CF-EAAF-6D4D-A78B-8E711F4A4487}"/>
              </a:ext>
            </a:extLst>
          </p:cNvPr>
          <p:cNvSpPr txBox="1"/>
          <p:nvPr/>
        </p:nvSpPr>
        <p:spPr>
          <a:xfrm>
            <a:off x="6731000" y="3937000"/>
            <a:ext cx="4699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0C4DE"/>
                </a:solidFill>
              </a:rPr>
              <a:t>→  Parts procurement is the #1 pain point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39688A-A735-FE4A-BFB3-306C6DAD9307}"/>
              </a:ext>
            </a:extLst>
          </p:cNvPr>
          <p:cNvSpPr txBox="1"/>
          <p:nvPr/>
        </p:nvSpPr>
        <p:spPr>
          <a:xfrm>
            <a:off x="6731000" y="4508500"/>
            <a:ext cx="4699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0C4DE"/>
                </a:solidFill>
              </a:rPr>
              <a:t>→  Growing demand for predictive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749597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EAC025-5F9D-5A45-B37B-55BDCE8DA280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8986B8-F0B0-A244-8CFE-55F9C2E45D3E}"/>
              </a:ext>
            </a:extLst>
          </p:cNvPr>
          <p:cNvSpPr txBox="1"/>
          <p:nvPr/>
        </p:nvSpPr>
        <p:spPr>
          <a:xfrm>
            <a:off x="508000" y="2794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E94560"/>
                </a:solidFill>
              </a:rPr>
              <a:t>MARKET OPPORTUNITY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D5423C-511C-8A41-8CCE-6587DF1F4511}"/>
              </a:ext>
            </a:extLst>
          </p:cNvPr>
          <p:cNvSpPr txBox="1"/>
          <p:nvPr/>
        </p:nvSpPr>
        <p:spPr>
          <a:xfrm>
            <a:off x="508000" y="660400"/>
            <a:ext cx="11176000" cy="825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A Multi-Billion Dollar Untapped Market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C8D796A-B315-024E-BDED-29CDB42E2A8D}"/>
              </a:ext>
            </a:extLst>
          </p:cNvPr>
          <p:cNvSpPr/>
          <p:nvPr/>
        </p:nvSpPr>
        <p:spPr>
          <a:xfrm>
            <a:off x="698500" y="1841500"/>
            <a:ext cx="2540000" cy="1968500"/>
          </a:xfrm>
          <a:prstGeom prst="roundRect">
            <a:avLst/>
          </a:prstGeom>
          <a:solidFill>
            <a:srgbClr val="1621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88231D-431E-5A46-8E21-A7BA4881E3FA}"/>
              </a:ext>
            </a:extLst>
          </p:cNvPr>
          <p:cNvSpPr txBox="1"/>
          <p:nvPr/>
        </p:nvSpPr>
        <p:spPr>
          <a:xfrm>
            <a:off x="825500" y="2032000"/>
            <a:ext cx="2286000" cy="825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E94560"/>
                </a:solidFill>
              </a:rPr>
              <a:t>$85B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4F6529-11EA-6049-83D6-42F5FCAED915}"/>
              </a:ext>
            </a:extLst>
          </p:cNvPr>
          <p:cNvSpPr txBox="1"/>
          <p:nvPr/>
        </p:nvSpPr>
        <p:spPr>
          <a:xfrm>
            <a:off x="762000" y="2819400"/>
            <a:ext cx="2413000" cy="444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U.S. Auto Parts Market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2A2E94-2D13-FE4F-BFBE-C82573C9C1FB}"/>
              </a:ext>
            </a:extLst>
          </p:cNvPr>
          <p:cNvSpPr txBox="1"/>
          <p:nvPr/>
        </p:nvSpPr>
        <p:spPr>
          <a:xfrm>
            <a:off x="762000" y="325120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7090A8"/>
                </a:solidFill>
              </a:rPr>
              <a:t>Annual market size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DB3C551-86D9-2741-96AF-C517A598EB7F}"/>
              </a:ext>
            </a:extLst>
          </p:cNvPr>
          <p:cNvSpPr/>
          <p:nvPr/>
        </p:nvSpPr>
        <p:spPr>
          <a:xfrm>
            <a:off x="3517900" y="1841500"/>
            <a:ext cx="2540000" cy="1968500"/>
          </a:xfrm>
          <a:prstGeom prst="roundRect">
            <a:avLst/>
          </a:prstGeom>
          <a:solidFill>
            <a:srgbClr val="1621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0B3D0D-E770-CE47-A35A-28642EF1EF24}"/>
              </a:ext>
            </a:extLst>
          </p:cNvPr>
          <p:cNvSpPr txBox="1"/>
          <p:nvPr/>
        </p:nvSpPr>
        <p:spPr>
          <a:xfrm>
            <a:off x="3644900" y="2032000"/>
            <a:ext cx="2286000" cy="825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E94560"/>
                </a:solidFill>
              </a:rPr>
              <a:t>12%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A4DA3F-4C89-F940-A2FB-FF6FC655441F}"/>
              </a:ext>
            </a:extLst>
          </p:cNvPr>
          <p:cNvSpPr txBox="1"/>
          <p:nvPr/>
        </p:nvSpPr>
        <p:spPr>
          <a:xfrm>
            <a:off x="3581400" y="2819400"/>
            <a:ext cx="2413000" cy="444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Annual Growth Rate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51CAE9-1B48-7747-8C12-8545ED62B84D}"/>
              </a:ext>
            </a:extLst>
          </p:cNvPr>
          <p:cNvSpPr txBox="1"/>
          <p:nvPr/>
        </p:nvSpPr>
        <p:spPr>
          <a:xfrm>
            <a:off x="3581400" y="325120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7090A8"/>
                </a:solidFill>
              </a:rPr>
              <a:t>Auto parts software segment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AE16EA3-283B-2341-83E0-72999B88E6CC}"/>
              </a:ext>
            </a:extLst>
          </p:cNvPr>
          <p:cNvSpPr/>
          <p:nvPr/>
        </p:nvSpPr>
        <p:spPr>
          <a:xfrm>
            <a:off x="6337300" y="1841500"/>
            <a:ext cx="2540000" cy="1968500"/>
          </a:xfrm>
          <a:prstGeom prst="roundRect">
            <a:avLst/>
          </a:prstGeom>
          <a:solidFill>
            <a:srgbClr val="1621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3EC571-F680-7F4F-B72C-8456B5412F2A}"/>
              </a:ext>
            </a:extLst>
          </p:cNvPr>
          <p:cNvSpPr txBox="1"/>
          <p:nvPr/>
        </p:nvSpPr>
        <p:spPr>
          <a:xfrm>
            <a:off x="6464300" y="2032000"/>
            <a:ext cx="2286000" cy="825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E94560"/>
                </a:solidFill>
              </a:rPr>
              <a:t>78%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81841E-B036-A343-BDA0-25B1A48AA74F}"/>
              </a:ext>
            </a:extLst>
          </p:cNvPr>
          <p:cNvSpPr txBox="1"/>
          <p:nvPr/>
        </p:nvSpPr>
        <p:spPr>
          <a:xfrm>
            <a:off x="6400800" y="2819400"/>
            <a:ext cx="2413000" cy="444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Shops Underserved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271A79-5E0C-7E4D-9EF6-C59B53D5D2CD}"/>
              </a:ext>
            </a:extLst>
          </p:cNvPr>
          <p:cNvSpPr txBox="1"/>
          <p:nvPr/>
        </p:nvSpPr>
        <p:spPr>
          <a:xfrm>
            <a:off x="6400800" y="325120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7090A8"/>
                </a:solidFill>
              </a:rPr>
              <a:t>Lack modern inventory tools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ADA456A-E32B-D846-871C-859079255175}"/>
              </a:ext>
            </a:extLst>
          </p:cNvPr>
          <p:cNvSpPr/>
          <p:nvPr/>
        </p:nvSpPr>
        <p:spPr>
          <a:xfrm>
            <a:off x="9156700" y="1841500"/>
            <a:ext cx="2540000" cy="1968500"/>
          </a:xfrm>
          <a:prstGeom prst="roundRect">
            <a:avLst/>
          </a:prstGeom>
          <a:solidFill>
            <a:srgbClr val="1621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0EC396-B022-0444-92CD-75A6F666CA34}"/>
              </a:ext>
            </a:extLst>
          </p:cNvPr>
          <p:cNvSpPr txBox="1"/>
          <p:nvPr/>
        </p:nvSpPr>
        <p:spPr>
          <a:xfrm>
            <a:off x="9283700" y="2032000"/>
            <a:ext cx="2286000" cy="825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E94560"/>
                </a:solidFill>
              </a:rPr>
              <a:t>$2.1B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3E990D-8D69-544E-B7A6-86702457E025}"/>
              </a:ext>
            </a:extLst>
          </p:cNvPr>
          <p:cNvSpPr txBox="1"/>
          <p:nvPr/>
        </p:nvSpPr>
        <p:spPr>
          <a:xfrm>
            <a:off x="9220200" y="2819400"/>
            <a:ext cx="2413000" cy="444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TAM for AUTOTRAQ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9DCEF7-657A-A84D-BEEE-FA41EA0CAA94}"/>
              </a:ext>
            </a:extLst>
          </p:cNvPr>
          <p:cNvSpPr txBox="1"/>
          <p:nvPr/>
        </p:nvSpPr>
        <p:spPr>
          <a:xfrm>
            <a:off x="9220200" y="325120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7090A8"/>
                </a:solidFill>
              </a:rPr>
              <a:t>Shops + fleet software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13697D-08F6-E44C-9EE8-C6E8E7DADFBB}"/>
              </a:ext>
            </a:extLst>
          </p:cNvPr>
          <p:cNvSpPr/>
          <p:nvPr/>
        </p:nvSpPr>
        <p:spPr>
          <a:xfrm>
            <a:off x="0" y="4191000"/>
            <a:ext cx="12192000" cy="2286000"/>
          </a:xfrm>
          <a:prstGeom prst="rect">
            <a:avLst/>
          </a:prstGeom>
          <a:solidFill>
            <a:srgbClr val="1621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5893E0-8A85-144B-A697-A8C668B8436D}"/>
              </a:ext>
            </a:extLst>
          </p:cNvPr>
          <p:cNvSpPr txBox="1"/>
          <p:nvPr/>
        </p:nvSpPr>
        <p:spPr>
          <a:xfrm>
            <a:off x="508000" y="43815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E94560"/>
                </a:solidFill>
              </a:rPr>
              <a:t>WHY NOW?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5ACE7C-8FE1-5D4B-B334-3B9211AB5805}"/>
              </a:ext>
            </a:extLst>
          </p:cNvPr>
          <p:cNvSpPr txBox="1"/>
          <p:nvPr/>
        </p:nvSpPr>
        <p:spPr>
          <a:xfrm>
            <a:off x="508000" y="4800600"/>
            <a:ext cx="11176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0C4DE"/>
                </a:solidFill>
              </a:rPr>
              <a:t>✓  Post-COVID supply chain disruptions made real-time inventory critical for every shop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99FF95-1543-E44D-8066-A9F4F63BEA2F}"/>
              </a:ext>
            </a:extLst>
          </p:cNvPr>
          <p:cNvSpPr txBox="1"/>
          <p:nvPr/>
        </p:nvSpPr>
        <p:spPr>
          <a:xfrm>
            <a:off x="508000" y="5283200"/>
            <a:ext cx="11176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0C4DE"/>
                </a:solidFill>
              </a:rPr>
              <a:t>✓  Rising vehicle complexity means more SKUs and higher cost of errors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BB02DC-5B2B-504F-B879-CF4364D97D8C}"/>
              </a:ext>
            </a:extLst>
          </p:cNvPr>
          <p:cNvSpPr txBox="1"/>
          <p:nvPr/>
        </p:nvSpPr>
        <p:spPr>
          <a:xfrm>
            <a:off x="508000" y="5765800"/>
            <a:ext cx="11176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0C4DE"/>
                </a:solidFill>
              </a:rPr>
              <a:t>✓  Cloud adoption in SMBs hit a tipping point — shops are finally ready for modern software</a:t>
            </a:r>
          </a:p>
        </p:txBody>
      </p:sp>
    </p:spTree>
    <p:extLst>
      <p:ext uri="{BB962C8B-B14F-4D97-AF65-F5344CB8AC3E}">
        <p14:creationId xmlns:p14="http://schemas.microsoft.com/office/powerpoint/2010/main" val="4288065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5D5748-F3C4-ED49-BCD2-38FE6B0D465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93BBDD-374A-7047-8853-DA3909268BA8}"/>
              </a:ext>
            </a:extLst>
          </p:cNvPr>
          <p:cNvSpPr txBox="1"/>
          <p:nvPr/>
        </p:nvSpPr>
        <p:spPr>
          <a:xfrm>
            <a:off x="508000" y="2794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E94560"/>
                </a:solidFill>
              </a:rPr>
              <a:t>COMPETITIVE ADVANTAGE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953632-57B5-F447-961A-49CD11687543}"/>
              </a:ext>
            </a:extLst>
          </p:cNvPr>
          <p:cNvSpPr txBox="1"/>
          <p:nvPr/>
        </p:nvSpPr>
        <p:spPr>
          <a:xfrm>
            <a:off x="508000" y="660400"/>
            <a:ext cx="11176000" cy="825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FFFFFF"/>
                </a:solidFill>
              </a:rPr>
              <a:t>Why AUTOTRAQ Wins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0DE015-A678-9640-92C1-F017B94899E2}"/>
              </a:ext>
            </a:extLst>
          </p:cNvPr>
          <p:cNvSpPr/>
          <p:nvPr/>
        </p:nvSpPr>
        <p:spPr>
          <a:xfrm>
            <a:off x="508000" y="1714500"/>
            <a:ext cx="2794000" cy="571500"/>
          </a:xfrm>
          <a:prstGeom prst="rect">
            <a:avLst/>
          </a:prstGeom>
          <a:solidFill>
            <a:srgbClr val="1621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DBC58-2FCA-C148-8C3B-0B0CDA7EC97A}"/>
              </a:ext>
            </a:extLst>
          </p:cNvPr>
          <p:cNvSpPr/>
          <p:nvPr/>
        </p:nvSpPr>
        <p:spPr>
          <a:xfrm>
            <a:off x="3556000" y="1714500"/>
            <a:ext cx="2540000" cy="5715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AUTOTRAQ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8DC2EC-9A58-1E47-9C09-1DD91135C089}"/>
              </a:ext>
            </a:extLst>
          </p:cNvPr>
          <p:cNvSpPr/>
          <p:nvPr/>
        </p:nvSpPr>
        <p:spPr>
          <a:xfrm>
            <a:off x="6096000" y="1714500"/>
            <a:ext cx="2540000" cy="571500"/>
          </a:xfrm>
          <a:prstGeom prst="rect">
            <a:avLst/>
          </a:prstGeom>
          <a:solidFill>
            <a:srgbClr val="4444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Spreadsheets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BF1587-8C7C-2949-A3C6-96F0033020ED}"/>
              </a:ext>
            </a:extLst>
          </p:cNvPr>
          <p:cNvSpPr/>
          <p:nvPr/>
        </p:nvSpPr>
        <p:spPr>
          <a:xfrm>
            <a:off x="8636000" y="1714500"/>
            <a:ext cx="2540000" cy="571500"/>
          </a:xfrm>
          <a:prstGeom prst="rect">
            <a:avLst/>
          </a:prstGeom>
          <a:solidFill>
            <a:srgbClr val="4444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Generic ERP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5EFE6B-E5DD-FF40-9595-BE3468EEFBBC}"/>
              </a:ext>
            </a:extLst>
          </p:cNvPr>
          <p:cNvSpPr/>
          <p:nvPr/>
        </p:nvSpPr>
        <p:spPr>
          <a:xfrm>
            <a:off x="508000" y="2311400"/>
            <a:ext cx="2794000" cy="533400"/>
          </a:xfrm>
          <a:prstGeom prst="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FFFFFF"/>
                </a:solidFill>
              </a:rPr>
              <a:t>Real-Time Inventory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F89C83-A0D9-BD40-9B17-0AA110CC077B}"/>
              </a:ext>
            </a:extLst>
          </p:cNvPr>
          <p:cNvSpPr/>
          <p:nvPr/>
        </p:nvSpPr>
        <p:spPr>
          <a:xfrm>
            <a:off x="3556000" y="2311400"/>
            <a:ext cx="2540000" cy="533400"/>
          </a:xfrm>
          <a:prstGeom prst="rect">
            <a:avLst/>
          </a:prstGeom>
          <a:solidFill>
            <a:srgbClr val="1A3A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8A3CB6-0ED1-5945-8CFD-18119DE5907D}"/>
              </a:ext>
            </a:extLst>
          </p:cNvPr>
          <p:cNvSpPr/>
          <p:nvPr/>
        </p:nvSpPr>
        <p:spPr>
          <a:xfrm>
            <a:off x="6096000" y="2311400"/>
            <a:ext cx="2540000" cy="533400"/>
          </a:xfrm>
          <a:prstGeom prst="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E94560"/>
                </a:solidFill>
              </a:rPr>
              <a:t>✗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6508DC-28A1-A441-B718-6FFF4D9C16E9}"/>
              </a:ext>
            </a:extLst>
          </p:cNvPr>
          <p:cNvSpPr/>
          <p:nvPr/>
        </p:nvSpPr>
        <p:spPr>
          <a:xfrm>
            <a:off x="8636000" y="2311400"/>
            <a:ext cx="2540000" cy="533400"/>
          </a:xfrm>
          <a:prstGeom prst="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557799"/>
                </a:solidFill>
              </a:rPr>
              <a:t>✓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638A41-6521-1745-B3EB-46A93E9E248D}"/>
              </a:ext>
            </a:extLst>
          </p:cNvPr>
          <p:cNvSpPr/>
          <p:nvPr/>
        </p:nvSpPr>
        <p:spPr>
          <a:xfrm>
            <a:off x="508000" y="2844800"/>
            <a:ext cx="2794000" cy="533400"/>
          </a:xfrm>
          <a:prstGeom prst="rect">
            <a:avLst/>
          </a:prstGeom>
          <a:solidFill>
            <a:srgbClr val="111E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FFFFFF"/>
                </a:solidFill>
              </a:rPr>
              <a:t>Auto Reorder Alerts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E0B301-5F1E-3640-8EBF-5D96552B0F63}"/>
              </a:ext>
            </a:extLst>
          </p:cNvPr>
          <p:cNvSpPr/>
          <p:nvPr/>
        </p:nvSpPr>
        <p:spPr>
          <a:xfrm>
            <a:off x="3556000" y="2844800"/>
            <a:ext cx="2540000" cy="533400"/>
          </a:xfrm>
          <a:prstGeom prst="rect">
            <a:avLst/>
          </a:prstGeom>
          <a:solidFill>
            <a:srgbClr val="1A3A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6AEC08-391D-3346-849F-FC65F60234A6}"/>
              </a:ext>
            </a:extLst>
          </p:cNvPr>
          <p:cNvSpPr/>
          <p:nvPr/>
        </p:nvSpPr>
        <p:spPr>
          <a:xfrm>
            <a:off x="6096000" y="2844800"/>
            <a:ext cx="2540000" cy="533400"/>
          </a:xfrm>
          <a:prstGeom prst="rect">
            <a:avLst/>
          </a:prstGeom>
          <a:solidFill>
            <a:srgbClr val="111E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E94560"/>
                </a:solidFill>
              </a:rPr>
              <a:t>✗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D99EE8-B999-2F4E-B714-66B7BE5C21A4}"/>
              </a:ext>
            </a:extLst>
          </p:cNvPr>
          <p:cNvSpPr/>
          <p:nvPr/>
        </p:nvSpPr>
        <p:spPr>
          <a:xfrm>
            <a:off x="8636000" y="2844800"/>
            <a:ext cx="2540000" cy="533400"/>
          </a:xfrm>
          <a:prstGeom prst="rect">
            <a:avLst/>
          </a:prstGeom>
          <a:solidFill>
            <a:srgbClr val="111E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>
                <a:solidFill>
                  <a:srgbClr val="F5A623"/>
                </a:solidFill>
              </a:rPr>
              <a:t>Partial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E3D15E-8AEE-ED45-8E68-26908538E84D}"/>
              </a:ext>
            </a:extLst>
          </p:cNvPr>
          <p:cNvSpPr/>
          <p:nvPr/>
        </p:nvSpPr>
        <p:spPr>
          <a:xfrm>
            <a:off x="508000" y="3378200"/>
            <a:ext cx="2794000" cy="533400"/>
          </a:xfrm>
          <a:prstGeom prst="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FFFFFF"/>
                </a:solidFill>
              </a:rPr>
              <a:t>Mobile Access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D2ECC9-F22E-8C45-A067-510C8ABED331}"/>
              </a:ext>
            </a:extLst>
          </p:cNvPr>
          <p:cNvSpPr/>
          <p:nvPr/>
        </p:nvSpPr>
        <p:spPr>
          <a:xfrm>
            <a:off x="3556000" y="3378200"/>
            <a:ext cx="2540000" cy="533400"/>
          </a:xfrm>
          <a:prstGeom prst="rect">
            <a:avLst/>
          </a:prstGeom>
          <a:solidFill>
            <a:srgbClr val="1A3A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D043FA-9108-744A-B40D-2568395FC04B}"/>
              </a:ext>
            </a:extLst>
          </p:cNvPr>
          <p:cNvSpPr/>
          <p:nvPr/>
        </p:nvSpPr>
        <p:spPr>
          <a:xfrm>
            <a:off x="6096000" y="3378200"/>
            <a:ext cx="2540000" cy="533400"/>
          </a:xfrm>
          <a:prstGeom prst="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E94560"/>
                </a:solidFill>
              </a:rPr>
              <a:t>✗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D2B17F-4FD9-9644-99DB-BB677289FBB1}"/>
              </a:ext>
            </a:extLst>
          </p:cNvPr>
          <p:cNvSpPr/>
          <p:nvPr/>
        </p:nvSpPr>
        <p:spPr>
          <a:xfrm>
            <a:off x="8636000" y="3378200"/>
            <a:ext cx="2540000" cy="533400"/>
          </a:xfrm>
          <a:prstGeom prst="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>
                <a:solidFill>
                  <a:srgbClr val="F5A623"/>
                </a:solidFill>
              </a:rPr>
              <a:t>Partial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BDE23D-7176-D846-B265-DAE02BD5C8E6}"/>
              </a:ext>
            </a:extLst>
          </p:cNvPr>
          <p:cNvSpPr/>
          <p:nvPr/>
        </p:nvSpPr>
        <p:spPr>
          <a:xfrm>
            <a:off x="508000" y="3911600"/>
            <a:ext cx="2794000" cy="533400"/>
          </a:xfrm>
          <a:prstGeom prst="rect">
            <a:avLst/>
          </a:prstGeom>
          <a:solidFill>
            <a:srgbClr val="111E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FFFFFF"/>
                </a:solidFill>
              </a:rPr>
              <a:t>Supplier Integration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1956FE-8D7E-C04B-AC4B-0F125FCABA81}"/>
              </a:ext>
            </a:extLst>
          </p:cNvPr>
          <p:cNvSpPr/>
          <p:nvPr/>
        </p:nvSpPr>
        <p:spPr>
          <a:xfrm>
            <a:off x="3556000" y="3911600"/>
            <a:ext cx="2540000" cy="533400"/>
          </a:xfrm>
          <a:prstGeom prst="rect">
            <a:avLst/>
          </a:prstGeom>
          <a:solidFill>
            <a:srgbClr val="1A3A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3E0B1F-9F30-B64B-9143-FD0905F9E7AC}"/>
              </a:ext>
            </a:extLst>
          </p:cNvPr>
          <p:cNvSpPr/>
          <p:nvPr/>
        </p:nvSpPr>
        <p:spPr>
          <a:xfrm>
            <a:off x="6096000" y="3911600"/>
            <a:ext cx="2540000" cy="533400"/>
          </a:xfrm>
          <a:prstGeom prst="rect">
            <a:avLst/>
          </a:prstGeom>
          <a:solidFill>
            <a:srgbClr val="111E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E94560"/>
                </a:solidFill>
              </a:rPr>
              <a:t>✗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451388-B536-4344-B23A-228F45F94AD2}"/>
              </a:ext>
            </a:extLst>
          </p:cNvPr>
          <p:cNvSpPr/>
          <p:nvPr/>
        </p:nvSpPr>
        <p:spPr>
          <a:xfrm>
            <a:off x="8636000" y="3911600"/>
            <a:ext cx="2540000" cy="533400"/>
          </a:xfrm>
          <a:prstGeom prst="rect">
            <a:avLst/>
          </a:prstGeom>
          <a:solidFill>
            <a:srgbClr val="111E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E94560"/>
                </a:solidFill>
              </a:rPr>
              <a:t>✗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EFC6D1-F8D1-3F49-BE3C-D5D8875FEF14}"/>
              </a:ext>
            </a:extLst>
          </p:cNvPr>
          <p:cNvSpPr/>
          <p:nvPr/>
        </p:nvSpPr>
        <p:spPr>
          <a:xfrm>
            <a:off x="508000" y="4445000"/>
            <a:ext cx="2794000" cy="533400"/>
          </a:xfrm>
          <a:prstGeom prst="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FFFFFF"/>
                </a:solidFill>
              </a:rPr>
              <a:t>Auto-Shop Specific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106267-35EE-AE43-AEEA-425953894218}"/>
              </a:ext>
            </a:extLst>
          </p:cNvPr>
          <p:cNvSpPr/>
          <p:nvPr/>
        </p:nvSpPr>
        <p:spPr>
          <a:xfrm>
            <a:off x="3556000" y="4445000"/>
            <a:ext cx="2540000" cy="533400"/>
          </a:xfrm>
          <a:prstGeom prst="rect">
            <a:avLst/>
          </a:prstGeom>
          <a:solidFill>
            <a:srgbClr val="1A3A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1F18DA-04F6-7247-833F-0CB5754FD5CB}"/>
              </a:ext>
            </a:extLst>
          </p:cNvPr>
          <p:cNvSpPr/>
          <p:nvPr/>
        </p:nvSpPr>
        <p:spPr>
          <a:xfrm>
            <a:off x="6096000" y="4445000"/>
            <a:ext cx="2540000" cy="533400"/>
          </a:xfrm>
          <a:prstGeom prst="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E94560"/>
                </a:solidFill>
              </a:rPr>
              <a:t>✗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A2C0449-32F0-8E42-A70F-485C6BD55B52}"/>
              </a:ext>
            </a:extLst>
          </p:cNvPr>
          <p:cNvSpPr/>
          <p:nvPr/>
        </p:nvSpPr>
        <p:spPr>
          <a:xfrm>
            <a:off x="8636000" y="4445000"/>
            <a:ext cx="2540000" cy="533400"/>
          </a:xfrm>
          <a:prstGeom prst="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E94560"/>
                </a:solidFill>
              </a:rPr>
              <a:t>✗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76C4506-4B83-EF45-AE87-8FF6D22D9A38}"/>
              </a:ext>
            </a:extLst>
          </p:cNvPr>
          <p:cNvSpPr/>
          <p:nvPr/>
        </p:nvSpPr>
        <p:spPr>
          <a:xfrm>
            <a:off x="508000" y="4978400"/>
            <a:ext cx="2794000" cy="533400"/>
          </a:xfrm>
          <a:prstGeom prst="rect">
            <a:avLst/>
          </a:prstGeom>
          <a:solidFill>
            <a:srgbClr val="111E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FFFFFF"/>
                </a:solidFill>
              </a:rPr>
              <a:t>Setup in &lt; 1 Day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E185C8-A82C-9F40-BE79-B5E0F555BFD2}"/>
              </a:ext>
            </a:extLst>
          </p:cNvPr>
          <p:cNvSpPr/>
          <p:nvPr/>
        </p:nvSpPr>
        <p:spPr>
          <a:xfrm>
            <a:off x="3556000" y="4978400"/>
            <a:ext cx="2540000" cy="533400"/>
          </a:xfrm>
          <a:prstGeom prst="rect">
            <a:avLst/>
          </a:prstGeom>
          <a:solidFill>
            <a:srgbClr val="1A3A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DCE2A9-1F1A-CD4F-97C8-FEEDE5741A99}"/>
              </a:ext>
            </a:extLst>
          </p:cNvPr>
          <p:cNvSpPr/>
          <p:nvPr/>
        </p:nvSpPr>
        <p:spPr>
          <a:xfrm>
            <a:off x="6096000" y="4978400"/>
            <a:ext cx="2540000" cy="533400"/>
          </a:xfrm>
          <a:prstGeom prst="rect">
            <a:avLst/>
          </a:prstGeom>
          <a:solidFill>
            <a:srgbClr val="111E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557799"/>
                </a:solidFill>
              </a:rPr>
              <a:t>✓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13A1040-E004-7A49-B40C-827AD0D4E6DE}"/>
              </a:ext>
            </a:extLst>
          </p:cNvPr>
          <p:cNvSpPr/>
          <p:nvPr/>
        </p:nvSpPr>
        <p:spPr>
          <a:xfrm>
            <a:off x="8636000" y="4978400"/>
            <a:ext cx="2540000" cy="533400"/>
          </a:xfrm>
          <a:prstGeom prst="rect">
            <a:avLst/>
          </a:prstGeom>
          <a:solidFill>
            <a:srgbClr val="111E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E94560"/>
                </a:solidFill>
              </a:rPr>
              <a:t>✗</a:t>
            </a:r>
          </a:p>
        </p:txBody>
      </p:sp>
    </p:spTree>
    <p:extLst>
      <p:ext uri="{BB962C8B-B14F-4D97-AF65-F5344CB8AC3E}">
        <p14:creationId xmlns:p14="http://schemas.microsoft.com/office/powerpoint/2010/main" val="3619099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E404A4-3A87-C247-B46E-1A3EEE69542C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29C157-A60F-D641-A09E-046D9A9F7C3A}"/>
              </a:ext>
            </a:extLst>
          </p:cNvPr>
          <p:cNvSpPr txBox="1"/>
          <p:nvPr/>
        </p:nvSpPr>
        <p:spPr>
          <a:xfrm>
            <a:off x="508000" y="2794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E94560"/>
                </a:solidFill>
              </a:rPr>
              <a:t>USE CASE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F2C5C6-8F1A-2343-BE4C-116229F522F6}"/>
              </a:ext>
            </a:extLst>
          </p:cNvPr>
          <p:cNvSpPr txBox="1"/>
          <p:nvPr/>
        </p:nvSpPr>
        <p:spPr>
          <a:xfrm>
            <a:off x="508000" y="609600"/>
            <a:ext cx="7620000" cy="825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FFFFFF"/>
                </a:solidFill>
              </a:rPr>
              <a:t>Auto Repair Shops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47A8A7F-26A7-1645-A372-B24E2E51FA9C}"/>
              </a:ext>
            </a:extLst>
          </p:cNvPr>
          <p:cNvSpPr/>
          <p:nvPr/>
        </p:nvSpPr>
        <p:spPr>
          <a:xfrm>
            <a:off x="508000" y="1651000"/>
            <a:ext cx="5461000" cy="4699000"/>
          </a:xfrm>
          <a:prstGeom prst="roundRect">
            <a:avLst/>
          </a:prstGeom>
          <a:solidFill>
            <a:srgbClr val="1621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B58720-5DEF-9040-BAB0-D36289E34C7E}"/>
              </a:ext>
            </a:extLst>
          </p:cNvPr>
          <p:cNvSpPr txBox="1"/>
          <p:nvPr/>
        </p:nvSpPr>
        <p:spPr>
          <a:xfrm>
            <a:off x="762000" y="19050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E94560"/>
                </a:solidFill>
              </a:rPr>
              <a:t>THE SCENARIO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3B2B5D-739A-B744-B305-616B7DA05A68}"/>
              </a:ext>
            </a:extLst>
          </p:cNvPr>
          <p:cNvSpPr txBox="1"/>
          <p:nvPr/>
        </p:nvSpPr>
        <p:spPr>
          <a:xfrm>
            <a:off x="762000" y="2349500"/>
            <a:ext cx="4953000" cy="254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0C4DE"/>
                </a:solidFill>
              </a:rPr>
              <a:t>Mike's Auto Care runs 3 bays with 2 techs. Every week he loses hours searching for parts across 4 supplier catalogs, calls in duplicate orders, and occasionally turns away customers because he didn't know a part was out of stock.
With AUTOTRAQ:
→  Stock levels update the moment a part is used on a job
→  Low-stock alerts trigger automatic reorder requests
→  Mike gets a daily report on parts spend and waste
→  Zero stockouts. Zero duplicate orders.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0B0F60E-72CF-7E4F-BB21-3CAA00D59C3F}"/>
              </a:ext>
            </a:extLst>
          </p:cNvPr>
          <p:cNvSpPr/>
          <p:nvPr/>
        </p:nvSpPr>
        <p:spPr>
          <a:xfrm>
            <a:off x="6223000" y="1651000"/>
            <a:ext cx="5461000" cy="965200"/>
          </a:xfrm>
          <a:prstGeom prst="roundRect">
            <a:avLst/>
          </a:prstGeom>
          <a:solidFill>
            <a:srgbClr val="1621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C3A0F2-93A5-AA4C-9846-7C0F258F7911}"/>
              </a:ext>
            </a:extLst>
          </p:cNvPr>
          <p:cNvSpPr/>
          <p:nvPr/>
        </p:nvSpPr>
        <p:spPr>
          <a:xfrm>
            <a:off x="6223000" y="1651000"/>
            <a:ext cx="63500" cy="9652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DA5519-8A3D-3942-9C0A-E1F71013860B}"/>
              </a:ext>
            </a:extLst>
          </p:cNvPr>
          <p:cNvSpPr txBox="1"/>
          <p:nvPr/>
        </p:nvSpPr>
        <p:spPr>
          <a:xfrm>
            <a:off x="6477000" y="1778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</a:rPr>
              <a:t>⏱ 8 hrs/week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30325D-FD1B-9C46-84FD-5AC692EEF0F6}"/>
              </a:ext>
            </a:extLst>
          </p:cNvPr>
          <p:cNvSpPr txBox="1"/>
          <p:nvPr/>
        </p:nvSpPr>
        <p:spPr>
          <a:xfrm>
            <a:off x="6477000" y="22098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7090A8"/>
                </a:solidFill>
              </a:rPr>
              <a:t>Saved on parts lookup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7C4ABE4-3253-7449-9ED4-868447E71E1E}"/>
              </a:ext>
            </a:extLst>
          </p:cNvPr>
          <p:cNvSpPr/>
          <p:nvPr/>
        </p:nvSpPr>
        <p:spPr>
          <a:xfrm>
            <a:off x="6223000" y="2768600"/>
            <a:ext cx="5461000" cy="965200"/>
          </a:xfrm>
          <a:prstGeom prst="roundRect">
            <a:avLst/>
          </a:prstGeom>
          <a:solidFill>
            <a:srgbClr val="1621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8B38DE-CBA6-B847-9B6F-B4E963270CF1}"/>
              </a:ext>
            </a:extLst>
          </p:cNvPr>
          <p:cNvSpPr/>
          <p:nvPr/>
        </p:nvSpPr>
        <p:spPr>
          <a:xfrm>
            <a:off x="6223000" y="2768600"/>
            <a:ext cx="63500" cy="9652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C0005E-23EE-6B4B-81BB-F2348FFBE4CC}"/>
              </a:ext>
            </a:extLst>
          </p:cNvPr>
          <p:cNvSpPr txBox="1"/>
          <p:nvPr/>
        </p:nvSpPr>
        <p:spPr>
          <a:xfrm>
            <a:off x="6477000" y="28956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</a:rPr>
              <a:t>📦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F7463D-2BC6-8A42-8373-8890E9AEA27E}"/>
              </a:ext>
            </a:extLst>
          </p:cNvPr>
          <p:cNvSpPr txBox="1"/>
          <p:nvPr/>
        </p:nvSpPr>
        <p:spPr>
          <a:xfrm>
            <a:off x="6477000" y="33274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7090A8"/>
                </a:solidFill>
              </a:rPr>
              <a:t>Stockouts last quarter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02CC9E0-38BA-8C4B-B874-4515B6C8F5CF}"/>
              </a:ext>
            </a:extLst>
          </p:cNvPr>
          <p:cNvSpPr/>
          <p:nvPr/>
        </p:nvSpPr>
        <p:spPr>
          <a:xfrm>
            <a:off x="6223000" y="3886200"/>
            <a:ext cx="5461000" cy="965200"/>
          </a:xfrm>
          <a:prstGeom prst="roundRect">
            <a:avLst/>
          </a:prstGeom>
          <a:solidFill>
            <a:srgbClr val="1621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EEA07E-FEBE-2145-B9EA-AF57B38746E6}"/>
              </a:ext>
            </a:extLst>
          </p:cNvPr>
          <p:cNvSpPr/>
          <p:nvPr/>
        </p:nvSpPr>
        <p:spPr>
          <a:xfrm>
            <a:off x="6223000" y="3886200"/>
            <a:ext cx="63500" cy="9652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B8C081-8746-D642-9FFC-3E8D30F6B1D7}"/>
              </a:ext>
            </a:extLst>
          </p:cNvPr>
          <p:cNvSpPr txBox="1"/>
          <p:nvPr/>
        </p:nvSpPr>
        <p:spPr>
          <a:xfrm>
            <a:off x="6477000" y="40132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</a:rPr>
              <a:t>💰 27%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1BF9B7-CC2A-994C-9027-A59E40E11B32}"/>
              </a:ext>
            </a:extLst>
          </p:cNvPr>
          <p:cNvSpPr txBox="1"/>
          <p:nvPr/>
        </p:nvSpPr>
        <p:spPr>
          <a:xfrm>
            <a:off x="6477000" y="44450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7090A8"/>
                </a:solidFill>
              </a:rPr>
              <a:t>Reduction in parts spend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D205289-AEEC-D74B-84A0-0C5160F53A7C}"/>
              </a:ext>
            </a:extLst>
          </p:cNvPr>
          <p:cNvSpPr/>
          <p:nvPr/>
        </p:nvSpPr>
        <p:spPr>
          <a:xfrm>
            <a:off x="6223000" y="5003800"/>
            <a:ext cx="5461000" cy="965200"/>
          </a:xfrm>
          <a:prstGeom prst="roundRect">
            <a:avLst/>
          </a:prstGeom>
          <a:solidFill>
            <a:srgbClr val="1621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14330E-D31C-0D43-A6F7-F1D1B61FA116}"/>
              </a:ext>
            </a:extLst>
          </p:cNvPr>
          <p:cNvSpPr/>
          <p:nvPr/>
        </p:nvSpPr>
        <p:spPr>
          <a:xfrm>
            <a:off x="6223000" y="5003800"/>
            <a:ext cx="63500" cy="9652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3B1A96-6BDA-DF41-B965-5FC441A94F8A}"/>
              </a:ext>
            </a:extLst>
          </p:cNvPr>
          <p:cNvSpPr txBox="1"/>
          <p:nvPr/>
        </p:nvSpPr>
        <p:spPr>
          <a:xfrm>
            <a:off x="6477000" y="51308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</a:rPr>
              <a:t>⭐ 4.9★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D7F358-524D-AE4C-A9C2-12160AE35E24}"/>
              </a:ext>
            </a:extLst>
          </p:cNvPr>
          <p:cNvSpPr txBox="1"/>
          <p:nvPr/>
        </p:nvSpPr>
        <p:spPr>
          <a:xfrm>
            <a:off x="6477000" y="55626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7090A8"/>
                </a:solidFill>
              </a:rPr>
              <a:t>Customer satisfaction score</a:t>
            </a:r>
          </a:p>
        </p:txBody>
      </p:sp>
    </p:spTree>
    <p:extLst>
      <p:ext uri="{BB962C8B-B14F-4D97-AF65-F5344CB8AC3E}">
        <p14:creationId xmlns:p14="http://schemas.microsoft.com/office/powerpoint/2010/main" val="3298238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A520EE-D675-324B-8939-FEDBDDEB8D1F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498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8E93A9-FDA7-EA4C-837C-DF4F4CC2F33E}"/>
              </a:ext>
            </a:extLst>
          </p:cNvPr>
          <p:cNvSpPr txBox="1"/>
          <p:nvPr/>
        </p:nvSpPr>
        <p:spPr>
          <a:xfrm>
            <a:off x="508000" y="2794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3498DB"/>
                </a:solidFill>
              </a:rPr>
              <a:t>USE CASE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FABE0A-9DE7-1349-9815-4CF9659EC3AB}"/>
              </a:ext>
            </a:extLst>
          </p:cNvPr>
          <p:cNvSpPr txBox="1"/>
          <p:nvPr/>
        </p:nvSpPr>
        <p:spPr>
          <a:xfrm>
            <a:off x="508000" y="609600"/>
            <a:ext cx="11176000" cy="825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Fleet Management Companies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6CD4523-5487-5247-A0FE-1DA40534CA88}"/>
              </a:ext>
            </a:extLst>
          </p:cNvPr>
          <p:cNvSpPr/>
          <p:nvPr/>
        </p:nvSpPr>
        <p:spPr>
          <a:xfrm>
            <a:off x="508000" y="1651000"/>
            <a:ext cx="5461000" cy="4699000"/>
          </a:xfrm>
          <a:prstGeom prst="round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086B0D-BD33-FF4B-A4E2-7C99543019F0}"/>
              </a:ext>
            </a:extLst>
          </p:cNvPr>
          <p:cNvSpPr txBox="1"/>
          <p:nvPr/>
        </p:nvSpPr>
        <p:spPr>
          <a:xfrm>
            <a:off x="762000" y="19050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498DB"/>
                </a:solidFill>
              </a:rPr>
              <a:t>THE SCENARIO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1CE2F6-EB3A-C54B-B7ED-A30892F9EB41}"/>
              </a:ext>
            </a:extLst>
          </p:cNvPr>
          <p:cNvSpPr txBox="1"/>
          <p:nvPr/>
        </p:nvSpPr>
        <p:spPr>
          <a:xfrm>
            <a:off x="762000" y="2349500"/>
            <a:ext cx="4953000" cy="254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0C4DE"/>
                </a:solidFill>
              </a:rPr>
              <a:t>Rocky Mountain Logistics runs 85 delivery vehicles. When a truck breaks down, every hour of downtime costs $700. Their parts warehouse is managed by one person with a clipboard.
With AUTOTRAQ:
→  Each vehicle gets its own maintenance and parts profile
→  Predictive alerts flag parts nearing end-of-life before failure
→  Central dashboard shows stock across all depots
→  Integration with fleet GPS ties mileage to part wear schedules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9F9425C-96D0-C344-B7DE-397E959B101C}"/>
              </a:ext>
            </a:extLst>
          </p:cNvPr>
          <p:cNvSpPr/>
          <p:nvPr/>
        </p:nvSpPr>
        <p:spPr>
          <a:xfrm>
            <a:off x="6223000" y="1651000"/>
            <a:ext cx="5461000" cy="965200"/>
          </a:xfrm>
          <a:prstGeom prst="round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931AF2-027C-1446-8E0E-5696B7CF49EB}"/>
              </a:ext>
            </a:extLst>
          </p:cNvPr>
          <p:cNvSpPr/>
          <p:nvPr/>
        </p:nvSpPr>
        <p:spPr>
          <a:xfrm>
            <a:off x="6223000" y="1651000"/>
            <a:ext cx="63500" cy="965200"/>
          </a:xfrm>
          <a:prstGeom prst="rect">
            <a:avLst/>
          </a:prstGeom>
          <a:solidFill>
            <a:srgbClr val="3498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925EC5-40F8-C24F-8294-BB9223CAB269}"/>
              </a:ext>
            </a:extLst>
          </p:cNvPr>
          <p:cNvSpPr txBox="1"/>
          <p:nvPr/>
        </p:nvSpPr>
        <p:spPr>
          <a:xfrm>
            <a:off x="6477000" y="1778000"/>
            <a:ext cx="3556000" cy="444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</a:rPr>
              <a:t>🚛 62%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7955E9-943D-8F4D-84F3-22BC6004E006}"/>
              </a:ext>
            </a:extLst>
          </p:cNvPr>
          <p:cNvSpPr txBox="1"/>
          <p:nvPr/>
        </p:nvSpPr>
        <p:spPr>
          <a:xfrm>
            <a:off x="6477000" y="22098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7090A8"/>
                </a:solidFill>
              </a:rPr>
              <a:t>Reduction in unplanned downtime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9F30408-8C83-254A-8D57-01FF971028BB}"/>
              </a:ext>
            </a:extLst>
          </p:cNvPr>
          <p:cNvSpPr/>
          <p:nvPr/>
        </p:nvSpPr>
        <p:spPr>
          <a:xfrm>
            <a:off x="6223000" y="2768600"/>
            <a:ext cx="5461000" cy="965200"/>
          </a:xfrm>
          <a:prstGeom prst="round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DB2058-AF26-674B-A35C-9B831595C41E}"/>
              </a:ext>
            </a:extLst>
          </p:cNvPr>
          <p:cNvSpPr/>
          <p:nvPr/>
        </p:nvSpPr>
        <p:spPr>
          <a:xfrm>
            <a:off x="6223000" y="2768600"/>
            <a:ext cx="63500" cy="965200"/>
          </a:xfrm>
          <a:prstGeom prst="rect">
            <a:avLst/>
          </a:prstGeom>
          <a:solidFill>
            <a:srgbClr val="3498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577768-54C9-A945-BE24-17757727684C}"/>
              </a:ext>
            </a:extLst>
          </p:cNvPr>
          <p:cNvSpPr txBox="1"/>
          <p:nvPr/>
        </p:nvSpPr>
        <p:spPr>
          <a:xfrm>
            <a:off x="6477000" y="2895600"/>
            <a:ext cx="3556000" cy="444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</a:rPr>
              <a:t>💸 $180K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2E11ED-A19B-D043-8CD6-D47384E556A8}"/>
              </a:ext>
            </a:extLst>
          </p:cNvPr>
          <p:cNvSpPr txBox="1"/>
          <p:nvPr/>
        </p:nvSpPr>
        <p:spPr>
          <a:xfrm>
            <a:off x="6477000" y="33274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7090A8"/>
                </a:solidFill>
              </a:rPr>
              <a:t>Annual savings on parts waste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B189F5E-75F6-9D4D-9AE7-4027CE6233C3}"/>
              </a:ext>
            </a:extLst>
          </p:cNvPr>
          <p:cNvSpPr/>
          <p:nvPr/>
        </p:nvSpPr>
        <p:spPr>
          <a:xfrm>
            <a:off x="6223000" y="3886200"/>
            <a:ext cx="5461000" cy="965200"/>
          </a:xfrm>
          <a:prstGeom prst="round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12DCBA-F97A-4141-8D1C-6FFC2C3C4537}"/>
              </a:ext>
            </a:extLst>
          </p:cNvPr>
          <p:cNvSpPr/>
          <p:nvPr/>
        </p:nvSpPr>
        <p:spPr>
          <a:xfrm>
            <a:off x="6223000" y="3886200"/>
            <a:ext cx="63500" cy="965200"/>
          </a:xfrm>
          <a:prstGeom prst="rect">
            <a:avLst/>
          </a:prstGeom>
          <a:solidFill>
            <a:srgbClr val="3498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127D58-055E-5641-A8A5-83F3DF63125F}"/>
              </a:ext>
            </a:extLst>
          </p:cNvPr>
          <p:cNvSpPr txBox="1"/>
          <p:nvPr/>
        </p:nvSpPr>
        <p:spPr>
          <a:xfrm>
            <a:off x="6477000" y="4013200"/>
            <a:ext cx="3556000" cy="444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</a:rPr>
              <a:t>📍 100%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1F7332-1135-644A-99FC-EB2485249924}"/>
              </a:ext>
            </a:extLst>
          </p:cNvPr>
          <p:cNvSpPr txBox="1"/>
          <p:nvPr/>
        </p:nvSpPr>
        <p:spPr>
          <a:xfrm>
            <a:off x="6477000" y="44450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7090A8"/>
                </a:solidFill>
              </a:rPr>
              <a:t>Parts location visibility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67C2FE9-DCC9-9D4D-9E25-4C4BBECE1CF3}"/>
              </a:ext>
            </a:extLst>
          </p:cNvPr>
          <p:cNvSpPr/>
          <p:nvPr/>
        </p:nvSpPr>
        <p:spPr>
          <a:xfrm>
            <a:off x="6223000" y="5003800"/>
            <a:ext cx="5461000" cy="965200"/>
          </a:xfrm>
          <a:prstGeom prst="round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3F3292-EA92-AC40-A307-A4AD121C1935}"/>
              </a:ext>
            </a:extLst>
          </p:cNvPr>
          <p:cNvSpPr/>
          <p:nvPr/>
        </p:nvSpPr>
        <p:spPr>
          <a:xfrm>
            <a:off x="6223000" y="5003800"/>
            <a:ext cx="63500" cy="965200"/>
          </a:xfrm>
          <a:prstGeom prst="rect">
            <a:avLst/>
          </a:prstGeom>
          <a:solidFill>
            <a:srgbClr val="3498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969F3D-1899-A94A-A300-1144753B3C30}"/>
              </a:ext>
            </a:extLst>
          </p:cNvPr>
          <p:cNvSpPr txBox="1"/>
          <p:nvPr/>
        </p:nvSpPr>
        <p:spPr>
          <a:xfrm>
            <a:off x="6477000" y="5130800"/>
            <a:ext cx="3556000" cy="444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</a:rPr>
              <a:t>⚡ 3x faster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45D802-073D-2C40-B36C-084CD2F02001}"/>
              </a:ext>
            </a:extLst>
          </p:cNvPr>
          <p:cNvSpPr txBox="1"/>
          <p:nvPr/>
        </p:nvSpPr>
        <p:spPr>
          <a:xfrm>
            <a:off x="6477000" y="55626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7090A8"/>
                </a:solidFill>
              </a:rPr>
              <a:t>Parts procurement process</a:t>
            </a:r>
          </a:p>
        </p:txBody>
      </p:sp>
    </p:spTree>
    <p:extLst>
      <p:ext uri="{BB962C8B-B14F-4D97-AF65-F5344CB8AC3E}">
        <p14:creationId xmlns:p14="http://schemas.microsoft.com/office/powerpoint/2010/main" val="2418665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225797-1141-584B-94AC-37A60EE276BB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64F126-CE04-9A48-A2BF-BD00091DDDFA}"/>
              </a:ext>
            </a:extLst>
          </p:cNvPr>
          <p:cNvSpPr txBox="1"/>
          <p:nvPr/>
        </p:nvSpPr>
        <p:spPr>
          <a:xfrm>
            <a:off x="508000" y="2794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E94560"/>
                </a:solidFill>
              </a:rPr>
              <a:t>BUSINESS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7EFEA1-C030-B746-B582-FF4ACE633413}"/>
              </a:ext>
            </a:extLst>
          </p:cNvPr>
          <p:cNvSpPr txBox="1"/>
          <p:nvPr/>
        </p:nvSpPr>
        <p:spPr>
          <a:xfrm>
            <a:off x="508000" y="660400"/>
            <a:ext cx="11176000" cy="825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Simple, Scalable SaaS Pricing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FD150D9-D998-A548-8E1B-F5183B358C4F}"/>
              </a:ext>
            </a:extLst>
          </p:cNvPr>
          <p:cNvSpPr/>
          <p:nvPr/>
        </p:nvSpPr>
        <p:spPr>
          <a:xfrm>
            <a:off x="571500" y="1841500"/>
            <a:ext cx="3429000" cy="4318000"/>
          </a:xfrm>
          <a:prstGeom prst="roundRect">
            <a:avLst/>
          </a:prstGeom>
          <a:solidFill>
            <a:srgbClr val="1621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90ED10-3281-CC4C-970A-2BE252F9A49E}"/>
              </a:ext>
            </a:extLst>
          </p:cNvPr>
          <p:cNvSpPr/>
          <p:nvPr/>
        </p:nvSpPr>
        <p:spPr>
          <a:xfrm>
            <a:off x="571500" y="1841500"/>
            <a:ext cx="3429000" cy="101600"/>
          </a:xfrm>
          <a:prstGeom prst="rect">
            <a:avLst/>
          </a:prstGeom>
          <a:solidFill>
            <a:srgbClr val="3498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D4DE7C-FB4B-A046-982A-128200F4D1BC}"/>
              </a:ext>
            </a:extLst>
          </p:cNvPr>
          <p:cNvSpPr txBox="1"/>
          <p:nvPr/>
        </p:nvSpPr>
        <p:spPr>
          <a:xfrm>
            <a:off x="698500" y="2095500"/>
            <a:ext cx="3175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3498DB"/>
                </a:solidFill>
              </a:rPr>
              <a:t>Starter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1E7142-E594-8C4A-AA2C-2243D24DE885}"/>
              </a:ext>
            </a:extLst>
          </p:cNvPr>
          <p:cNvSpPr txBox="1"/>
          <p:nvPr/>
        </p:nvSpPr>
        <p:spPr>
          <a:xfrm>
            <a:off x="698500" y="2578100"/>
            <a:ext cx="3175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$49/mo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E86956-829D-A244-A996-94BAAE1CAB79}"/>
              </a:ext>
            </a:extLst>
          </p:cNvPr>
          <p:cNvSpPr txBox="1"/>
          <p:nvPr/>
        </p:nvSpPr>
        <p:spPr>
          <a:xfrm>
            <a:off x="698500" y="3238500"/>
            <a:ext cx="3175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7090A8"/>
                </a:solidFill>
              </a:rPr>
              <a:t>For single-bay shops getting started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C27F1C-ED73-514A-B30E-3A0F71D8B335}"/>
              </a:ext>
            </a:extLst>
          </p:cNvPr>
          <p:cNvSpPr/>
          <p:nvPr/>
        </p:nvSpPr>
        <p:spPr>
          <a:xfrm>
            <a:off x="825500" y="3721100"/>
            <a:ext cx="2921000" cy="12700"/>
          </a:xfrm>
          <a:prstGeom prst="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32DC52-3C79-0F49-9D78-ED14358F4460}"/>
              </a:ext>
            </a:extLst>
          </p:cNvPr>
          <p:cNvSpPr txBox="1"/>
          <p:nvPr/>
        </p:nvSpPr>
        <p:spPr>
          <a:xfrm>
            <a:off x="825500" y="3848100"/>
            <a:ext cx="2921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✓  Up to 500 SKUs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F7EE0F-4BA8-AD4E-B4C1-B6FE1DAA9E82}"/>
              </a:ext>
            </a:extLst>
          </p:cNvPr>
          <p:cNvSpPr txBox="1"/>
          <p:nvPr/>
        </p:nvSpPr>
        <p:spPr>
          <a:xfrm>
            <a:off x="825500" y="4279900"/>
            <a:ext cx="2921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✓  1 user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D83B96-B6AB-0F4E-87F4-23AA83472CFA}"/>
              </a:ext>
            </a:extLst>
          </p:cNvPr>
          <p:cNvSpPr txBox="1"/>
          <p:nvPr/>
        </p:nvSpPr>
        <p:spPr>
          <a:xfrm>
            <a:off x="825500" y="4711700"/>
            <a:ext cx="2921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✓  Basic reporting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165ED4-0810-0540-83C4-82EAB91826DE}"/>
              </a:ext>
            </a:extLst>
          </p:cNvPr>
          <p:cNvSpPr txBox="1"/>
          <p:nvPr/>
        </p:nvSpPr>
        <p:spPr>
          <a:xfrm>
            <a:off x="825500" y="5143500"/>
            <a:ext cx="2921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✓  Email support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2BBB048-E6C7-4C46-9453-E429FDB63E21}"/>
              </a:ext>
            </a:extLst>
          </p:cNvPr>
          <p:cNvSpPr/>
          <p:nvPr/>
        </p:nvSpPr>
        <p:spPr>
          <a:xfrm>
            <a:off x="4356100" y="1917700"/>
            <a:ext cx="3429000" cy="4305300"/>
          </a:xfrm>
          <a:prstGeom prst="roundRect">
            <a:avLst/>
          </a:prstGeom>
          <a:solidFill>
            <a:srgbClr val="16213E"/>
          </a:solidFill>
          <a:ln w="25400" cap="flat" cmpd="sng" algn="ctr">
            <a:solidFill>
              <a:srgbClr val="E945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C3CAF7-15F7-8444-92D8-8901646E1449}"/>
              </a:ext>
            </a:extLst>
          </p:cNvPr>
          <p:cNvSpPr/>
          <p:nvPr/>
        </p:nvSpPr>
        <p:spPr>
          <a:xfrm>
            <a:off x="4356100" y="1836737"/>
            <a:ext cx="3429000" cy="1016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8AC4B3-F861-B347-BEE4-A597BFF4CC6D}"/>
              </a:ext>
            </a:extLst>
          </p:cNvPr>
          <p:cNvSpPr/>
          <p:nvPr/>
        </p:nvSpPr>
        <p:spPr>
          <a:xfrm>
            <a:off x="5143500" y="1435100"/>
            <a:ext cx="1905000" cy="3302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</a:rPr>
              <a:t>MOST POPULAR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822B82-255E-F04C-B2D5-D0C36D7B17C6}"/>
              </a:ext>
            </a:extLst>
          </p:cNvPr>
          <p:cNvSpPr txBox="1"/>
          <p:nvPr/>
        </p:nvSpPr>
        <p:spPr>
          <a:xfrm>
            <a:off x="4483100" y="2076450"/>
            <a:ext cx="3175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 dirty="0">
                <a:solidFill>
                  <a:srgbClr val="E94560"/>
                </a:solidFill>
              </a:rPr>
              <a:t>Professional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97B853-7CD5-2442-B8BA-6F22BC719C3F}"/>
              </a:ext>
            </a:extLst>
          </p:cNvPr>
          <p:cNvSpPr txBox="1"/>
          <p:nvPr/>
        </p:nvSpPr>
        <p:spPr>
          <a:xfrm>
            <a:off x="4483100" y="2387600"/>
            <a:ext cx="3175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 dirty="0">
                <a:solidFill>
                  <a:srgbClr val="FFFFFF"/>
                </a:solidFill>
              </a:rPr>
              <a:t>$149/</a:t>
            </a:r>
            <a:r>
              <a:rPr lang="en-US" sz="3600" b="1" dirty="0" err="1">
                <a:solidFill>
                  <a:srgbClr val="FFFFFF"/>
                </a:solidFill>
              </a:rPr>
              <a:t>mo</a:t>
            </a:r>
            <a:endParaRPr lang="en-US" sz="3600" b="1" dirty="0">
              <a:solidFill>
                <a:srgbClr val="FFFF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77B0CC-136E-9147-B85C-36267CB6066B}"/>
              </a:ext>
            </a:extLst>
          </p:cNvPr>
          <p:cNvSpPr txBox="1"/>
          <p:nvPr/>
        </p:nvSpPr>
        <p:spPr>
          <a:xfrm>
            <a:off x="4483100" y="3048000"/>
            <a:ext cx="3175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7090A8"/>
                </a:solidFill>
              </a:rPr>
              <a:t>For growing shops and small fleets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0FE407-C507-1F4C-AD61-FE60535F2EFE}"/>
              </a:ext>
            </a:extLst>
          </p:cNvPr>
          <p:cNvSpPr/>
          <p:nvPr/>
        </p:nvSpPr>
        <p:spPr>
          <a:xfrm>
            <a:off x="4610100" y="3530600"/>
            <a:ext cx="2921000" cy="12700"/>
          </a:xfrm>
          <a:prstGeom prst="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4D2F6B-65E1-B340-8249-64E68591F81E}"/>
              </a:ext>
            </a:extLst>
          </p:cNvPr>
          <p:cNvSpPr txBox="1"/>
          <p:nvPr/>
        </p:nvSpPr>
        <p:spPr>
          <a:xfrm>
            <a:off x="4610100" y="3657600"/>
            <a:ext cx="2921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✓  Up to 5,000 SKUs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2A2505-8DF3-8F4A-B229-87C7D5A1E87E}"/>
              </a:ext>
            </a:extLst>
          </p:cNvPr>
          <p:cNvSpPr txBox="1"/>
          <p:nvPr/>
        </p:nvSpPr>
        <p:spPr>
          <a:xfrm>
            <a:off x="4610100" y="4089400"/>
            <a:ext cx="2921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✓  5 users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160EF7-B2B1-304F-B155-D6871C79828A}"/>
              </a:ext>
            </a:extLst>
          </p:cNvPr>
          <p:cNvSpPr txBox="1"/>
          <p:nvPr/>
        </p:nvSpPr>
        <p:spPr>
          <a:xfrm>
            <a:off x="4610100" y="4521200"/>
            <a:ext cx="2921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✓  Advanced analytics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0D944D-8066-1E4C-B470-2582665D7123}"/>
              </a:ext>
            </a:extLst>
          </p:cNvPr>
          <p:cNvSpPr txBox="1"/>
          <p:nvPr/>
        </p:nvSpPr>
        <p:spPr>
          <a:xfrm>
            <a:off x="4610100" y="4953000"/>
            <a:ext cx="2921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✓  Supplier integration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8CA5B6-7594-3B44-8315-87ADFFCAE670}"/>
              </a:ext>
            </a:extLst>
          </p:cNvPr>
          <p:cNvSpPr txBox="1"/>
          <p:nvPr/>
        </p:nvSpPr>
        <p:spPr>
          <a:xfrm>
            <a:off x="4610100" y="5384800"/>
            <a:ext cx="2921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✓  Priority support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E99E97C-F24F-4C4D-ABBB-6335267CDB0E}"/>
              </a:ext>
            </a:extLst>
          </p:cNvPr>
          <p:cNvSpPr/>
          <p:nvPr/>
        </p:nvSpPr>
        <p:spPr>
          <a:xfrm>
            <a:off x="8140700" y="1841500"/>
            <a:ext cx="3429000" cy="4318000"/>
          </a:xfrm>
          <a:prstGeom prst="roundRect">
            <a:avLst/>
          </a:prstGeom>
          <a:solidFill>
            <a:srgbClr val="1621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A48D91A-3BAF-664A-B82E-4B34A14710D7}"/>
              </a:ext>
            </a:extLst>
          </p:cNvPr>
          <p:cNvSpPr/>
          <p:nvPr/>
        </p:nvSpPr>
        <p:spPr>
          <a:xfrm>
            <a:off x="8140700" y="1841500"/>
            <a:ext cx="3429000" cy="101600"/>
          </a:xfrm>
          <a:prstGeom prst="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032562-6A29-B94E-A529-C15155F880B8}"/>
              </a:ext>
            </a:extLst>
          </p:cNvPr>
          <p:cNvSpPr txBox="1"/>
          <p:nvPr/>
        </p:nvSpPr>
        <p:spPr>
          <a:xfrm>
            <a:off x="8267700" y="2095500"/>
            <a:ext cx="3175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2ECC71"/>
                </a:solidFill>
              </a:rPr>
              <a:t>Enterprise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FBE240-C614-5B45-8C5B-D1E77980BD6E}"/>
              </a:ext>
            </a:extLst>
          </p:cNvPr>
          <p:cNvSpPr txBox="1"/>
          <p:nvPr/>
        </p:nvSpPr>
        <p:spPr>
          <a:xfrm>
            <a:off x="8267700" y="2578100"/>
            <a:ext cx="3175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Custom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BCDFBD-5048-2D4E-9E73-B7397171D400}"/>
              </a:ext>
            </a:extLst>
          </p:cNvPr>
          <p:cNvSpPr txBox="1"/>
          <p:nvPr/>
        </p:nvSpPr>
        <p:spPr>
          <a:xfrm>
            <a:off x="8267700" y="3238500"/>
            <a:ext cx="3175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7090A8"/>
                </a:solidFill>
              </a:rPr>
              <a:t>For large fleets and multi-location shops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24BDCAB-639D-F04E-A14C-81AB9FCA93F7}"/>
              </a:ext>
            </a:extLst>
          </p:cNvPr>
          <p:cNvSpPr/>
          <p:nvPr/>
        </p:nvSpPr>
        <p:spPr>
          <a:xfrm>
            <a:off x="8394700" y="3721100"/>
            <a:ext cx="2921000" cy="12700"/>
          </a:xfrm>
          <a:prstGeom prst="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62667A-16D2-A444-ABE8-D1FAE8CA4297}"/>
              </a:ext>
            </a:extLst>
          </p:cNvPr>
          <p:cNvSpPr txBox="1"/>
          <p:nvPr/>
        </p:nvSpPr>
        <p:spPr>
          <a:xfrm>
            <a:off x="8394700" y="3848100"/>
            <a:ext cx="2921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✓  Unlimited SKUs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C21813-2CB9-DE4D-BE3F-D37C8BB42C77}"/>
              </a:ext>
            </a:extLst>
          </p:cNvPr>
          <p:cNvSpPr txBox="1"/>
          <p:nvPr/>
        </p:nvSpPr>
        <p:spPr>
          <a:xfrm>
            <a:off x="8394700" y="4279900"/>
            <a:ext cx="2921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✓  Unlimited users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5E45BE-4B29-F841-8BF5-54CD0E66B8FA}"/>
              </a:ext>
            </a:extLst>
          </p:cNvPr>
          <p:cNvSpPr txBox="1"/>
          <p:nvPr/>
        </p:nvSpPr>
        <p:spPr>
          <a:xfrm>
            <a:off x="8394700" y="4711700"/>
            <a:ext cx="2921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✓  Custom integrations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D51773-3671-684E-9253-C32D2463D44A}"/>
              </a:ext>
            </a:extLst>
          </p:cNvPr>
          <p:cNvSpPr txBox="1"/>
          <p:nvPr/>
        </p:nvSpPr>
        <p:spPr>
          <a:xfrm>
            <a:off x="8394700" y="5143500"/>
            <a:ext cx="2921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✓  Dedicated account manager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9D0506-228C-0546-A957-5F76FC9D45FC}"/>
              </a:ext>
            </a:extLst>
          </p:cNvPr>
          <p:cNvSpPr txBox="1"/>
          <p:nvPr/>
        </p:nvSpPr>
        <p:spPr>
          <a:xfrm>
            <a:off x="8394700" y="5575300"/>
            <a:ext cx="2921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✓  SLA guarantee</a:t>
            </a:r>
          </a:p>
        </p:txBody>
      </p:sp>
    </p:spTree>
    <p:extLst>
      <p:ext uri="{BB962C8B-B14F-4D97-AF65-F5344CB8AC3E}">
        <p14:creationId xmlns:p14="http://schemas.microsoft.com/office/powerpoint/2010/main" val="3323044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79986B-E00A-3E44-8D27-DCE181B159C8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245335-CFDA-8044-8D01-DC4E684C645A}"/>
              </a:ext>
            </a:extLst>
          </p:cNvPr>
          <p:cNvSpPr txBox="1"/>
          <p:nvPr/>
        </p:nvSpPr>
        <p:spPr>
          <a:xfrm>
            <a:off x="508000" y="2794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E94560"/>
                </a:solidFill>
              </a:rPr>
              <a:t>PRODUCT ROADMAP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FCCAC4-0D76-6641-9A86-DE905C0EF3E4}"/>
              </a:ext>
            </a:extLst>
          </p:cNvPr>
          <p:cNvSpPr txBox="1"/>
          <p:nvPr/>
        </p:nvSpPr>
        <p:spPr>
          <a:xfrm>
            <a:off x="508000" y="660400"/>
            <a:ext cx="11176000" cy="825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Where We Are. Where We're Going.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7EC77B-486D-E043-BEFC-EE53260DCD84}"/>
              </a:ext>
            </a:extLst>
          </p:cNvPr>
          <p:cNvSpPr/>
          <p:nvPr/>
        </p:nvSpPr>
        <p:spPr>
          <a:xfrm>
            <a:off x="1016000" y="3149600"/>
            <a:ext cx="10287000" cy="76200"/>
          </a:xfrm>
          <a:prstGeom prst="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E78A15B-3057-9F4B-B61B-5320931E0A9A}"/>
              </a:ext>
            </a:extLst>
          </p:cNvPr>
          <p:cNvSpPr/>
          <p:nvPr/>
        </p:nvSpPr>
        <p:spPr>
          <a:xfrm>
            <a:off x="2222500" y="2971800"/>
            <a:ext cx="355600" cy="355600"/>
          </a:xfrm>
          <a:prstGeom prst="ellipse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2D71D68-FF3F-7340-8C56-D3C7BBC1C9AA}"/>
              </a:ext>
            </a:extLst>
          </p:cNvPr>
          <p:cNvSpPr/>
          <p:nvPr/>
        </p:nvSpPr>
        <p:spPr>
          <a:xfrm>
            <a:off x="1016000" y="3492500"/>
            <a:ext cx="3302000" cy="2921000"/>
          </a:xfrm>
          <a:prstGeom prst="round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2B73BE-562A-444B-9CFA-218FE48A11D7}"/>
              </a:ext>
            </a:extLst>
          </p:cNvPr>
          <p:cNvSpPr/>
          <p:nvPr/>
        </p:nvSpPr>
        <p:spPr>
          <a:xfrm>
            <a:off x="1016000" y="3492500"/>
            <a:ext cx="3302000" cy="762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2804E2A-8C2B-654C-8F03-D2E8D57AB427}"/>
              </a:ext>
            </a:extLst>
          </p:cNvPr>
          <p:cNvSpPr/>
          <p:nvPr/>
        </p:nvSpPr>
        <p:spPr>
          <a:xfrm>
            <a:off x="3048000" y="3581400"/>
            <a:ext cx="1117600" cy="279400"/>
          </a:xfrm>
          <a:prstGeom prst="round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EDC7BC-290C-504B-8BF2-851CF3297B4E}"/>
              </a:ext>
            </a:extLst>
          </p:cNvPr>
          <p:cNvSpPr txBox="1"/>
          <p:nvPr/>
        </p:nvSpPr>
        <p:spPr>
          <a:xfrm>
            <a:off x="1168400" y="360680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E94560"/>
                </a:solidFill>
              </a:rPr>
              <a:t>Phase 1 · NOW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2BF8CF-9431-A84C-A9C3-067B1DFB40ED}"/>
              </a:ext>
            </a:extLst>
          </p:cNvPr>
          <p:cNvSpPr txBox="1"/>
          <p:nvPr/>
        </p:nvSpPr>
        <p:spPr>
          <a:xfrm>
            <a:off x="1168400" y="3962400"/>
            <a:ext cx="3048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Core Platform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69310B-02F7-0D4E-84B3-DCE547042C3B}"/>
              </a:ext>
            </a:extLst>
          </p:cNvPr>
          <p:cNvSpPr txBox="1"/>
          <p:nvPr/>
        </p:nvSpPr>
        <p:spPr>
          <a:xfrm>
            <a:off x="1168400" y="44450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→  Inventory tracking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1A9CB-DE26-524D-8756-81F14C6FF14A}"/>
              </a:ext>
            </a:extLst>
          </p:cNvPr>
          <p:cNvSpPr txBox="1"/>
          <p:nvPr/>
        </p:nvSpPr>
        <p:spPr>
          <a:xfrm>
            <a:off x="1168400" y="49022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→  Reorder alerts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FDEAF0-4CAF-3042-9E19-ACAB088B9BD7}"/>
              </a:ext>
            </a:extLst>
          </p:cNvPr>
          <p:cNvSpPr txBox="1"/>
          <p:nvPr/>
        </p:nvSpPr>
        <p:spPr>
          <a:xfrm>
            <a:off x="1168400" y="53594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→  Supplier catalog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E82DB5-FB9F-8C42-B4C4-F7E470FEC330}"/>
              </a:ext>
            </a:extLst>
          </p:cNvPr>
          <p:cNvSpPr txBox="1"/>
          <p:nvPr/>
        </p:nvSpPr>
        <p:spPr>
          <a:xfrm>
            <a:off x="1168400" y="5816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→  Basic reporting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404E994-C9A7-D846-B0F0-6F0E0A882E1C}"/>
              </a:ext>
            </a:extLst>
          </p:cNvPr>
          <p:cNvSpPr/>
          <p:nvPr/>
        </p:nvSpPr>
        <p:spPr>
          <a:xfrm>
            <a:off x="5905500" y="2971800"/>
            <a:ext cx="355600" cy="355600"/>
          </a:xfrm>
          <a:prstGeom prst="ellipse">
            <a:avLst/>
          </a:prstGeom>
          <a:solidFill>
            <a:srgbClr val="3498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2A6A9E4-6477-C94C-A880-5AC103C8CD42}"/>
              </a:ext>
            </a:extLst>
          </p:cNvPr>
          <p:cNvSpPr/>
          <p:nvPr/>
        </p:nvSpPr>
        <p:spPr>
          <a:xfrm>
            <a:off x="4699000" y="3492500"/>
            <a:ext cx="3302000" cy="2921000"/>
          </a:xfrm>
          <a:prstGeom prst="round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BFB52D-4524-E545-A66E-D48F12EFED8C}"/>
              </a:ext>
            </a:extLst>
          </p:cNvPr>
          <p:cNvSpPr/>
          <p:nvPr/>
        </p:nvSpPr>
        <p:spPr>
          <a:xfrm>
            <a:off x="4699000" y="3492500"/>
            <a:ext cx="3302000" cy="76200"/>
          </a:xfrm>
          <a:prstGeom prst="rect">
            <a:avLst/>
          </a:prstGeom>
          <a:solidFill>
            <a:srgbClr val="3498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E46E6DA-6D2D-6440-A96E-651EA069387C}"/>
              </a:ext>
            </a:extLst>
          </p:cNvPr>
          <p:cNvSpPr/>
          <p:nvPr/>
        </p:nvSpPr>
        <p:spPr>
          <a:xfrm>
            <a:off x="6731000" y="3581400"/>
            <a:ext cx="1117600" cy="279400"/>
          </a:xfrm>
          <a:prstGeom prst="roundRect">
            <a:avLst/>
          </a:prstGeom>
          <a:solidFill>
            <a:srgbClr val="3498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IN DEV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10DD8A-BF10-6449-B579-6274FD2D49D7}"/>
              </a:ext>
            </a:extLst>
          </p:cNvPr>
          <p:cNvSpPr txBox="1"/>
          <p:nvPr/>
        </p:nvSpPr>
        <p:spPr>
          <a:xfrm>
            <a:off x="4851400" y="360680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 dirty="0">
                <a:solidFill>
                  <a:srgbClr val="3498DB"/>
                </a:solidFill>
              </a:rPr>
              <a:t>Phase 2 · Q1 2026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85F7C2-8BBE-BA4C-922F-E73EC9C178D3}"/>
              </a:ext>
            </a:extLst>
          </p:cNvPr>
          <p:cNvSpPr txBox="1"/>
          <p:nvPr/>
        </p:nvSpPr>
        <p:spPr>
          <a:xfrm>
            <a:off x="4851400" y="3962400"/>
            <a:ext cx="3048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Intelligence Layer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5AEFF3-5498-9C40-98F0-8ACE75939FB1}"/>
              </a:ext>
            </a:extLst>
          </p:cNvPr>
          <p:cNvSpPr txBox="1"/>
          <p:nvPr/>
        </p:nvSpPr>
        <p:spPr>
          <a:xfrm>
            <a:off x="4851400" y="44450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→  Predictive reordering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4C1FDC-58BE-FE49-B4C0-EC0BA37AFF4D}"/>
              </a:ext>
            </a:extLst>
          </p:cNvPr>
          <p:cNvSpPr txBox="1"/>
          <p:nvPr/>
        </p:nvSpPr>
        <p:spPr>
          <a:xfrm>
            <a:off x="4851400" y="49022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→  AI demand forecasting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0D5195-01C4-8449-ABAC-49822B2D91CE}"/>
              </a:ext>
            </a:extLst>
          </p:cNvPr>
          <p:cNvSpPr txBox="1"/>
          <p:nvPr/>
        </p:nvSpPr>
        <p:spPr>
          <a:xfrm>
            <a:off x="4851400" y="53594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→  Fleet integration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7994EB-CDA6-914F-9DB5-BEC969294EDD}"/>
              </a:ext>
            </a:extLst>
          </p:cNvPr>
          <p:cNvSpPr txBox="1"/>
          <p:nvPr/>
        </p:nvSpPr>
        <p:spPr>
          <a:xfrm>
            <a:off x="4851400" y="5816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→  Mobile app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8EC5590-9A5E-DE4A-9621-0DD884A79ADF}"/>
              </a:ext>
            </a:extLst>
          </p:cNvPr>
          <p:cNvSpPr/>
          <p:nvPr/>
        </p:nvSpPr>
        <p:spPr>
          <a:xfrm>
            <a:off x="9588500" y="2971800"/>
            <a:ext cx="355600" cy="355600"/>
          </a:xfrm>
          <a:prstGeom prst="ellipse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1D44860-BD2A-644E-9CB0-ACF237EDF422}"/>
              </a:ext>
            </a:extLst>
          </p:cNvPr>
          <p:cNvSpPr/>
          <p:nvPr/>
        </p:nvSpPr>
        <p:spPr>
          <a:xfrm>
            <a:off x="8382000" y="3492500"/>
            <a:ext cx="3302000" cy="2921000"/>
          </a:xfrm>
          <a:prstGeom prst="round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2104CB2-C0B7-DF49-81D8-1776DDD4DA52}"/>
              </a:ext>
            </a:extLst>
          </p:cNvPr>
          <p:cNvSpPr/>
          <p:nvPr/>
        </p:nvSpPr>
        <p:spPr>
          <a:xfrm>
            <a:off x="8382000" y="3492500"/>
            <a:ext cx="3302000" cy="76200"/>
          </a:xfrm>
          <a:prstGeom prst="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10EEC98-DFBE-E64A-BA0F-08F1CD2BD392}"/>
              </a:ext>
            </a:extLst>
          </p:cNvPr>
          <p:cNvSpPr/>
          <p:nvPr/>
        </p:nvSpPr>
        <p:spPr>
          <a:xfrm>
            <a:off x="10414000" y="3581400"/>
            <a:ext cx="1117600" cy="2794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36BEDF-FC9A-0941-B4A8-E7950941E130}"/>
              </a:ext>
            </a:extLst>
          </p:cNvPr>
          <p:cNvSpPr txBox="1"/>
          <p:nvPr/>
        </p:nvSpPr>
        <p:spPr>
          <a:xfrm>
            <a:off x="8534400" y="360680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 dirty="0">
                <a:solidFill>
                  <a:srgbClr val="2ECC71"/>
                </a:solidFill>
              </a:rPr>
              <a:t>Phase 3 · May 2026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92869E-3EDC-0346-A9BD-FFAC9766B553}"/>
              </a:ext>
            </a:extLst>
          </p:cNvPr>
          <p:cNvSpPr txBox="1"/>
          <p:nvPr/>
        </p:nvSpPr>
        <p:spPr>
          <a:xfrm>
            <a:off x="8534400" y="3962400"/>
            <a:ext cx="3048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Ecosystem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DA3FB6-D931-7D44-8B47-D2E474073D30}"/>
              </a:ext>
            </a:extLst>
          </p:cNvPr>
          <p:cNvSpPr txBox="1"/>
          <p:nvPr/>
        </p:nvSpPr>
        <p:spPr>
          <a:xfrm>
            <a:off x="8534400" y="44450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→  Marketplace for parts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575A6F-DA3F-8341-8101-363592A953BF}"/>
              </a:ext>
            </a:extLst>
          </p:cNvPr>
          <p:cNvSpPr txBox="1"/>
          <p:nvPr/>
        </p:nvSpPr>
        <p:spPr>
          <a:xfrm>
            <a:off x="8534400" y="49022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→  Multi-shop dashboard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1AB8A1-DE67-B046-8D5E-C20ADA12EB14}"/>
              </a:ext>
            </a:extLst>
          </p:cNvPr>
          <p:cNvSpPr txBox="1"/>
          <p:nvPr/>
        </p:nvSpPr>
        <p:spPr>
          <a:xfrm>
            <a:off x="8534400" y="53594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→  API for 3rd party tools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8F5FD2A-3BCD-9C4D-AE31-7563888DA20A}"/>
              </a:ext>
            </a:extLst>
          </p:cNvPr>
          <p:cNvSpPr txBox="1"/>
          <p:nvPr/>
        </p:nvSpPr>
        <p:spPr>
          <a:xfrm>
            <a:off x="8534400" y="5816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0C4DE"/>
                </a:solidFill>
              </a:rPr>
              <a:t>→  Enterprise SSO</a:t>
            </a:r>
          </a:p>
        </p:txBody>
      </p:sp>
    </p:spTree>
    <p:extLst>
      <p:ext uri="{BB962C8B-B14F-4D97-AF65-F5344CB8AC3E}">
        <p14:creationId xmlns:p14="http://schemas.microsoft.com/office/powerpoint/2010/main" val="3235672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08881D25-FF95-FC4A-B86E-2CA84BACB29A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446C743-D607-7340-8F5E-20D42F894114}"/>
              </a:ext>
            </a:extLst>
          </p:cNvPr>
          <p:cNvSpPr txBox="1"/>
          <p:nvPr/>
        </p:nvSpPr>
        <p:spPr>
          <a:xfrm>
            <a:off x="508000" y="2032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E94560"/>
                </a:solidFill>
              </a:rPr>
              <a:t>THE TEAM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922DE3A-0740-4E4D-8B82-39DEF83D4302}"/>
              </a:ext>
            </a:extLst>
          </p:cNvPr>
          <p:cNvSpPr txBox="1"/>
          <p:nvPr/>
        </p:nvSpPr>
        <p:spPr>
          <a:xfrm>
            <a:off x="508000" y="533400"/>
            <a:ext cx="11176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</a:rPr>
              <a:t>Built by CS490 at University of Northern Colorado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ECA6AAD8-2EAC-ED4A-8867-958048252D26}"/>
              </a:ext>
            </a:extLst>
          </p:cNvPr>
          <p:cNvSpPr/>
          <p:nvPr/>
        </p:nvSpPr>
        <p:spPr>
          <a:xfrm>
            <a:off x="2387600" y="1320800"/>
            <a:ext cx="2235200" cy="2413000"/>
          </a:xfrm>
          <a:prstGeom prst="round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5FF3EE3-C8B5-7842-9523-136D34ADE982}"/>
              </a:ext>
            </a:extLst>
          </p:cNvPr>
          <p:cNvSpPr/>
          <p:nvPr/>
        </p:nvSpPr>
        <p:spPr>
          <a:xfrm>
            <a:off x="2387600" y="1320800"/>
            <a:ext cx="2235200" cy="635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2A3B5CA-4B2E-B444-BAEF-98EF4EE81D0C}"/>
              </a:ext>
            </a:extLst>
          </p:cNvPr>
          <p:cNvSpPr/>
          <p:nvPr/>
        </p:nvSpPr>
        <p:spPr>
          <a:xfrm>
            <a:off x="3111500" y="1473200"/>
            <a:ext cx="787400" cy="787400"/>
          </a:xfrm>
          <a:prstGeom prst="ellipse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</a:rPr>
              <a:t>AC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887239B-A62F-B74D-AA9A-D6353D997DA0}"/>
              </a:ext>
            </a:extLst>
          </p:cNvPr>
          <p:cNvSpPr txBox="1"/>
          <p:nvPr/>
        </p:nvSpPr>
        <p:spPr>
          <a:xfrm>
            <a:off x="2438400" y="23368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Anson Cordeiro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50FFA94A-7269-7F49-AA8F-D38D81AE655C}"/>
              </a:ext>
            </a:extLst>
          </p:cNvPr>
          <p:cNvSpPr/>
          <p:nvPr/>
        </p:nvSpPr>
        <p:spPr>
          <a:xfrm>
            <a:off x="2489200" y="2768600"/>
            <a:ext cx="2032000" cy="304800"/>
          </a:xfrm>
          <a:prstGeom prst="round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Lead Dev &amp; Architect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04BE8CE-8B26-C845-9390-237972B46613}"/>
              </a:ext>
            </a:extLst>
          </p:cNvPr>
          <p:cNvSpPr txBox="1"/>
          <p:nvPr/>
        </p:nvSpPr>
        <p:spPr>
          <a:xfrm>
            <a:off x="2438400" y="3149600"/>
            <a:ext cx="21336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8AADCC"/>
                </a:solidFill>
              </a:rPr>
              <a:t>Architecture &amp; full-stack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2D54265-6BF5-EE48-920A-A74CD7CDBE4D}"/>
              </a:ext>
            </a:extLst>
          </p:cNvPr>
          <p:cNvSpPr/>
          <p:nvPr/>
        </p:nvSpPr>
        <p:spPr>
          <a:xfrm>
            <a:off x="4978400" y="1320800"/>
            <a:ext cx="2235200" cy="2413000"/>
          </a:xfrm>
          <a:prstGeom prst="round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E751555-1CC2-0746-B653-C0C562747A9F}"/>
              </a:ext>
            </a:extLst>
          </p:cNvPr>
          <p:cNvSpPr/>
          <p:nvPr/>
        </p:nvSpPr>
        <p:spPr>
          <a:xfrm>
            <a:off x="4978400" y="1320800"/>
            <a:ext cx="2235200" cy="63500"/>
          </a:xfrm>
          <a:prstGeom prst="rect">
            <a:avLst/>
          </a:prstGeom>
          <a:solidFill>
            <a:srgbClr val="3498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D67F2220-1D97-9E4B-9BE5-E94563D40B90}"/>
              </a:ext>
            </a:extLst>
          </p:cNvPr>
          <p:cNvSpPr/>
          <p:nvPr/>
        </p:nvSpPr>
        <p:spPr>
          <a:xfrm>
            <a:off x="5702300" y="1473200"/>
            <a:ext cx="787400" cy="787400"/>
          </a:xfrm>
          <a:prstGeom prst="ellipse">
            <a:avLst/>
          </a:prstGeom>
          <a:solidFill>
            <a:srgbClr val="3498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</a:rPr>
              <a:t>AA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479BA7E-0888-5043-8E3A-DDB2C3A71042}"/>
              </a:ext>
            </a:extLst>
          </p:cNvPr>
          <p:cNvSpPr txBox="1"/>
          <p:nvPr/>
        </p:nvSpPr>
        <p:spPr>
          <a:xfrm>
            <a:off x="5029200" y="23368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Agustus Allred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325CBC80-AD1B-614D-A4C4-0527ADD2C0CA}"/>
              </a:ext>
            </a:extLst>
          </p:cNvPr>
          <p:cNvSpPr/>
          <p:nvPr/>
        </p:nvSpPr>
        <p:spPr>
          <a:xfrm>
            <a:off x="5080000" y="2768600"/>
            <a:ext cx="2032000" cy="304800"/>
          </a:xfrm>
          <a:prstGeom prst="roundRect">
            <a:avLst/>
          </a:prstGeom>
          <a:solidFill>
            <a:srgbClr val="3498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Backend Developer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62B3958-04A4-E24D-ADDD-4B5FA3AE0294}"/>
              </a:ext>
            </a:extLst>
          </p:cNvPr>
          <p:cNvSpPr txBox="1"/>
          <p:nvPr/>
        </p:nvSpPr>
        <p:spPr>
          <a:xfrm>
            <a:off x="5029200" y="3149600"/>
            <a:ext cx="21336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8AADCC"/>
                </a:solidFill>
              </a:rPr>
              <a:t>Backend systems &amp; APIs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C5FE7225-838D-5E43-B84C-235EFB9C4E16}"/>
              </a:ext>
            </a:extLst>
          </p:cNvPr>
          <p:cNvSpPr/>
          <p:nvPr/>
        </p:nvSpPr>
        <p:spPr>
          <a:xfrm>
            <a:off x="7569200" y="1320800"/>
            <a:ext cx="2235200" cy="2413000"/>
          </a:xfrm>
          <a:prstGeom prst="round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38C5837-89EE-DD47-979B-48F32F03B60B}"/>
              </a:ext>
            </a:extLst>
          </p:cNvPr>
          <p:cNvSpPr/>
          <p:nvPr/>
        </p:nvSpPr>
        <p:spPr>
          <a:xfrm>
            <a:off x="7569200" y="1320800"/>
            <a:ext cx="2235200" cy="63500"/>
          </a:xfrm>
          <a:prstGeom prst="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BC52C4E-7A4F-2342-B05E-31DA35413A66}"/>
              </a:ext>
            </a:extLst>
          </p:cNvPr>
          <p:cNvSpPr/>
          <p:nvPr/>
        </p:nvSpPr>
        <p:spPr>
          <a:xfrm>
            <a:off x="8293100" y="1473200"/>
            <a:ext cx="787400" cy="787400"/>
          </a:xfrm>
          <a:prstGeom prst="ellipse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</a:rPr>
              <a:t>BS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BEEF33A-FE65-8348-9376-EB803279F15E}"/>
              </a:ext>
            </a:extLst>
          </p:cNvPr>
          <p:cNvSpPr txBox="1"/>
          <p:nvPr/>
        </p:nvSpPr>
        <p:spPr>
          <a:xfrm>
            <a:off x="7620000" y="23368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Ben Scarlett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D3C7A45B-FDD2-204D-BD30-E7F0D0445545}"/>
              </a:ext>
            </a:extLst>
          </p:cNvPr>
          <p:cNvSpPr/>
          <p:nvPr/>
        </p:nvSpPr>
        <p:spPr>
          <a:xfrm>
            <a:off x="7670800" y="2768600"/>
            <a:ext cx="2032000" cy="3048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Frontend Developer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2B9796F-3247-FD4F-87D9-D5DAD58F2CCB}"/>
              </a:ext>
            </a:extLst>
          </p:cNvPr>
          <p:cNvSpPr txBox="1"/>
          <p:nvPr/>
        </p:nvSpPr>
        <p:spPr>
          <a:xfrm>
            <a:off x="7620000" y="3149600"/>
            <a:ext cx="21336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8AADCC"/>
                </a:solidFill>
              </a:rPr>
              <a:t>UI/UX &amp; React dev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2C77236A-CF9E-164B-938C-854CF9D67322}"/>
              </a:ext>
            </a:extLst>
          </p:cNvPr>
          <p:cNvSpPr/>
          <p:nvPr/>
        </p:nvSpPr>
        <p:spPr>
          <a:xfrm>
            <a:off x="3683000" y="3911600"/>
            <a:ext cx="2235200" cy="2413000"/>
          </a:xfrm>
          <a:prstGeom prst="round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B85CB6C-9AD6-A74C-A7CF-69AEEB20D6A9}"/>
              </a:ext>
            </a:extLst>
          </p:cNvPr>
          <p:cNvSpPr/>
          <p:nvPr/>
        </p:nvSpPr>
        <p:spPr>
          <a:xfrm>
            <a:off x="3683000" y="3911600"/>
            <a:ext cx="2235200" cy="63500"/>
          </a:xfrm>
          <a:prstGeom prst="rect">
            <a:avLst/>
          </a:prstGeom>
          <a:solidFill>
            <a:srgbClr val="F5A62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F8CACE95-704C-AA48-9631-113E939FCDC3}"/>
              </a:ext>
            </a:extLst>
          </p:cNvPr>
          <p:cNvSpPr/>
          <p:nvPr/>
        </p:nvSpPr>
        <p:spPr>
          <a:xfrm>
            <a:off x="4406900" y="4064000"/>
            <a:ext cx="787400" cy="787400"/>
          </a:xfrm>
          <a:prstGeom prst="ellipse">
            <a:avLst/>
          </a:prstGeom>
          <a:solidFill>
            <a:srgbClr val="F5A62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</a:rPr>
              <a:t>DC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15140A5-68E8-F044-B36E-8C9CF3474427}"/>
              </a:ext>
            </a:extLst>
          </p:cNvPr>
          <p:cNvSpPr txBox="1"/>
          <p:nvPr/>
        </p:nvSpPr>
        <p:spPr>
          <a:xfrm>
            <a:off x="3733800" y="49276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Dean Carothers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2330B532-DDEE-8440-9B47-80F25BD1D20E}"/>
              </a:ext>
            </a:extLst>
          </p:cNvPr>
          <p:cNvSpPr/>
          <p:nvPr/>
        </p:nvSpPr>
        <p:spPr>
          <a:xfrm>
            <a:off x="3784600" y="5359400"/>
            <a:ext cx="2032000" cy="304800"/>
          </a:xfrm>
          <a:prstGeom prst="roundRect">
            <a:avLst/>
          </a:prstGeom>
          <a:solidFill>
            <a:srgbClr val="F5A62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Database &amp; DevOps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014A795-BD97-974E-8A65-75647F45F773}"/>
              </a:ext>
            </a:extLst>
          </p:cNvPr>
          <p:cNvSpPr txBox="1"/>
          <p:nvPr/>
        </p:nvSpPr>
        <p:spPr>
          <a:xfrm>
            <a:off x="3733800" y="5740400"/>
            <a:ext cx="21336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8AADCC"/>
                </a:solidFill>
              </a:rPr>
              <a:t>Data modeling &amp; DevOps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334FBE78-B4E8-0741-8D49-8B395D605B11}"/>
              </a:ext>
            </a:extLst>
          </p:cNvPr>
          <p:cNvSpPr/>
          <p:nvPr/>
        </p:nvSpPr>
        <p:spPr>
          <a:xfrm>
            <a:off x="6273800" y="3911600"/>
            <a:ext cx="2235200" cy="2413000"/>
          </a:xfrm>
          <a:prstGeom prst="round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D5D40EA-A52D-4340-9127-12FB0558CAE5}"/>
              </a:ext>
            </a:extLst>
          </p:cNvPr>
          <p:cNvSpPr/>
          <p:nvPr/>
        </p:nvSpPr>
        <p:spPr>
          <a:xfrm>
            <a:off x="6273800" y="3911600"/>
            <a:ext cx="2235200" cy="63500"/>
          </a:xfrm>
          <a:prstGeom prst="rect">
            <a:avLst/>
          </a:prstGeom>
          <a:solidFill>
            <a:srgbClr val="53348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2D07CB62-E46E-2E48-80AA-2E38DFAD8105}"/>
              </a:ext>
            </a:extLst>
          </p:cNvPr>
          <p:cNvSpPr/>
          <p:nvPr/>
        </p:nvSpPr>
        <p:spPr>
          <a:xfrm>
            <a:off x="6997700" y="4064000"/>
            <a:ext cx="787400" cy="787400"/>
          </a:xfrm>
          <a:prstGeom prst="ellipse">
            <a:avLst/>
          </a:prstGeom>
          <a:solidFill>
            <a:srgbClr val="53348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</a:rPr>
              <a:t>FC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E24D344-7360-934F-B7ED-FBF5730F03F9}"/>
              </a:ext>
            </a:extLst>
          </p:cNvPr>
          <p:cNvSpPr txBox="1"/>
          <p:nvPr/>
        </p:nvSpPr>
        <p:spPr>
          <a:xfrm>
            <a:off x="6324600" y="49276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Fatima Cortez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B3E343D4-30EF-D744-B21E-0C50BC7FC299}"/>
              </a:ext>
            </a:extLst>
          </p:cNvPr>
          <p:cNvSpPr/>
          <p:nvPr/>
        </p:nvSpPr>
        <p:spPr>
          <a:xfrm>
            <a:off x="6375400" y="5359400"/>
            <a:ext cx="2032000" cy="304800"/>
          </a:xfrm>
          <a:prstGeom prst="roundRect">
            <a:avLst/>
          </a:prstGeom>
          <a:solidFill>
            <a:srgbClr val="53348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Frontend &amp; Data Visuals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9383224-97AD-4C4B-9BE5-4F82716FFDF7}"/>
              </a:ext>
            </a:extLst>
          </p:cNvPr>
          <p:cNvSpPr txBox="1"/>
          <p:nvPr/>
        </p:nvSpPr>
        <p:spPr>
          <a:xfrm>
            <a:off x="6324600" y="5740400"/>
            <a:ext cx="21336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8AADCC"/>
                </a:solidFill>
              </a:rPr>
              <a:t>Visualization &amp; frontend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C688800-A4E4-8148-B5A8-C2B780EFE960}"/>
              </a:ext>
            </a:extLst>
          </p:cNvPr>
          <p:cNvSpPr/>
          <p:nvPr/>
        </p:nvSpPr>
        <p:spPr>
          <a:xfrm>
            <a:off x="0" y="6375400"/>
            <a:ext cx="12192000" cy="482600"/>
          </a:xfrm>
          <a:prstGeom prst="rect">
            <a:avLst/>
          </a:prstGeom>
          <a:solidFill>
            <a:srgbClr val="1621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1C54054-D904-1F4E-BB36-E8DF79EF1C34}"/>
              </a:ext>
            </a:extLst>
          </p:cNvPr>
          <p:cNvSpPr txBox="1"/>
          <p:nvPr/>
        </p:nvSpPr>
        <p:spPr>
          <a:xfrm>
            <a:off x="508000" y="6489700"/>
            <a:ext cx="11176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B0C4DE"/>
                </a:solidFill>
              </a:rPr>
              <a:t>University of Northern Colorado  •  CS490 Senior Capstone  •  Spring 2025</a:t>
            </a:r>
          </a:p>
        </p:txBody>
      </p:sp>
    </p:spTree>
    <p:extLst>
      <p:ext uri="{BB962C8B-B14F-4D97-AF65-F5344CB8AC3E}">
        <p14:creationId xmlns:p14="http://schemas.microsoft.com/office/powerpoint/2010/main" val="2787730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CB1530-E2DB-C84D-91AA-3D4298070DD6}"/>
              </a:ext>
            </a:extLst>
          </p:cNvPr>
          <p:cNvSpPr/>
          <p:nvPr/>
        </p:nvSpPr>
        <p:spPr>
          <a:xfrm>
            <a:off x="0" y="0"/>
            <a:ext cx="5080000" cy="68580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65B64B-AA89-F249-8239-9F6367B62B62}"/>
              </a:ext>
            </a:extLst>
          </p:cNvPr>
          <p:cNvSpPr txBox="1"/>
          <p:nvPr/>
        </p:nvSpPr>
        <p:spPr>
          <a:xfrm>
            <a:off x="381000" y="2032000"/>
            <a:ext cx="4318000" cy="254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7200" b="1">
                <a:solidFill>
                  <a:srgbClr val="FFFFFF"/>
                </a:solidFill>
              </a:rPr>
              <a:t>AUTO
TRAQ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3997BD-BAD7-5040-B682-620B79D74876}"/>
              </a:ext>
            </a:extLst>
          </p:cNvPr>
          <p:cNvSpPr txBox="1"/>
          <p:nvPr/>
        </p:nvSpPr>
        <p:spPr>
          <a:xfrm>
            <a:off x="381000" y="4572000"/>
            <a:ext cx="43180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>
                <a:solidFill>
                  <a:srgbClr val="FFCDD9"/>
                </a:solidFill>
              </a:rPr>
              <a:t>Smart Parts.
Smart Business.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E56131-A947-7340-8145-C8C098AAA00B}"/>
              </a:ext>
            </a:extLst>
          </p:cNvPr>
          <p:cNvSpPr txBox="1"/>
          <p:nvPr/>
        </p:nvSpPr>
        <p:spPr>
          <a:xfrm>
            <a:off x="5588000" y="762000"/>
            <a:ext cx="6096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E94560"/>
                </a:solidFill>
              </a:rPr>
              <a:t>LET'S PARTNER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F0F16-409B-BD43-9215-D370D1C52512}"/>
              </a:ext>
            </a:extLst>
          </p:cNvPr>
          <p:cNvSpPr txBox="1"/>
          <p:nvPr/>
        </p:nvSpPr>
        <p:spPr>
          <a:xfrm>
            <a:off x="5588000" y="1206500"/>
            <a:ext cx="6223000" cy="152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</a:rPr>
              <a:t>Ready to Transform
Your Parts Operations?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55BD9A2-8E90-C947-B33F-86CF6CDE1661}"/>
              </a:ext>
            </a:extLst>
          </p:cNvPr>
          <p:cNvSpPr/>
          <p:nvPr/>
        </p:nvSpPr>
        <p:spPr>
          <a:xfrm>
            <a:off x="5588000" y="3048000"/>
            <a:ext cx="6096000" cy="685800"/>
          </a:xfrm>
          <a:prstGeom prst="roundRect">
            <a:avLst/>
          </a:prstGeom>
          <a:solidFill>
            <a:srgbClr val="1621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F8FD1D-EB4F-734B-BB88-C760334F39E1}"/>
              </a:ext>
            </a:extLst>
          </p:cNvPr>
          <p:cNvSpPr txBox="1"/>
          <p:nvPr/>
        </p:nvSpPr>
        <p:spPr>
          <a:xfrm>
            <a:off x="5791200" y="3225800"/>
            <a:ext cx="508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/>
              <a:t>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3137C7-FF06-584F-9C7A-B3F3E4B4B11D}"/>
              </a:ext>
            </a:extLst>
          </p:cNvPr>
          <p:cNvSpPr txBox="1"/>
          <p:nvPr/>
        </p:nvSpPr>
        <p:spPr>
          <a:xfrm>
            <a:off x="6400800" y="31496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7090A8"/>
                </a:solidFill>
              </a:rPr>
              <a:t>Website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586E38-208C-1647-8821-475DBE7AFA0C}"/>
              </a:ext>
            </a:extLst>
          </p:cNvPr>
          <p:cNvSpPr txBox="1"/>
          <p:nvPr/>
        </p:nvSpPr>
        <p:spPr>
          <a:xfrm>
            <a:off x="6400800" y="33782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cs490unco.org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8C03E13-E337-9147-B96E-AF59CB3C214D}"/>
              </a:ext>
            </a:extLst>
          </p:cNvPr>
          <p:cNvSpPr/>
          <p:nvPr/>
        </p:nvSpPr>
        <p:spPr>
          <a:xfrm>
            <a:off x="5588000" y="3911600"/>
            <a:ext cx="6096000" cy="685800"/>
          </a:xfrm>
          <a:prstGeom prst="roundRect">
            <a:avLst/>
          </a:prstGeom>
          <a:solidFill>
            <a:srgbClr val="1621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3698FD-3414-384A-A8E1-954550D20544}"/>
              </a:ext>
            </a:extLst>
          </p:cNvPr>
          <p:cNvSpPr txBox="1"/>
          <p:nvPr/>
        </p:nvSpPr>
        <p:spPr>
          <a:xfrm>
            <a:off x="5791200" y="4089400"/>
            <a:ext cx="508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/>
              <a:t>📧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C757F3-B4B5-4544-8DE9-53177BF2CAF8}"/>
              </a:ext>
            </a:extLst>
          </p:cNvPr>
          <p:cNvSpPr txBox="1"/>
          <p:nvPr/>
        </p:nvSpPr>
        <p:spPr>
          <a:xfrm>
            <a:off x="6400800" y="40132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7090A8"/>
                </a:solidFill>
              </a:rPr>
              <a:t>Email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08ADC9-11F3-C649-A5F6-848AB2DAE3F6}"/>
              </a:ext>
            </a:extLst>
          </p:cNvPr>
          <p:cNvSpPr txBox="1"/>
          <p:nvPr/>
        </p:nvSpPr>
        <p:spPr>
          <a:xfrm>
            <a:off x="6400800" y="42418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autotraq@unco.edu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0CF2217-9A42-6A46-A9A0-0ACCE8CD4014}"/>
              </a:ext>
            </a:extLst>
          </p:cNvPr>
          <p:cNvSpPr/>
          <p:nvPr/>
        </p:nvSpPr>
        <p:spPr>
          <a:xfrm>
            <a:off x="5588000" y="4775200"/>
            <a:ext cx="6096000" cy="685800"/>
          </a:xfrm>
          <a:prstGeom prst="roundRect">
            <a:avLst/>
          </a:prstGeom>
          <a:solidFill>
            <a:srgbClr val="1621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CC6AF9-C03D-4346-8755-6D08C6F7FFFE}"/>
              </a:ext>
            </a:extLst>
          </p:cNvPr>
          <p:cNvSpPr txBox="1"/>
          <p:nvPr/>
        </p:nvSpPr>
        <p:spPr>
          <a:xfrm>
            <a:off x="5791200" y="4953000"/>
            <a:ext cx="508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/>
              <a:t>📍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07A736-E3F7-5545-96CF-16B5F552D23E}"/>
              </a:ext>
            </a:extLst>
          </p:cNvPr>
          <p:cNvSpPr txBox="1"/>
          <p:nvPr/>
        </p:nvSpPr>
        <p:spPr>
          <a:xfrm>
            <a:off x="6400800" y="48768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7090A8"/>
                </a:solidFill>
              </a:rPr>
              <a:t>Location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36FCFD-B244-8C43-AF51-7636B9FFE005}"/>
              </a:ext>
            </a:extLst>
          </p:cNvPr>
          <p:cNvSpPr txBox="1"/>
          <p:nvPr/>
        </p:nvSpPr>
        <p:spPr>
          <a:xfrm>
            <a:off x="6400800" y="5105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Greeley, Colorado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9F82D54-F2B8-2D4A-AA93-772E68C44A54}"/>
              </a:ext>
            </a:extLst>
          </p:cNvPr>
          <p:cNvSpPr/>
          <p:nvPr/>
        </p:nvSpPr>
        <p:spPr>
          <a:xfrm>
            <a:off x="5588000" y="5689600"/>
            <a:ext cx="6096000" cy="711200"/>
          </a:xfrm>
          <a:prstGeom prst="round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Schedule a Demo  →</a:t>
            </a:r>
          </a:p>
        </p:txBody>
      </p:sp>
    </p:spTree>
    <p:extLst>
      <p:ext uri="{BB962C8B-B14F-4D97-AF65-F5344CB8AC3E}">
        <p14:creationId xmlns:p14="http://schemas.microsoft.com/office/powerpoint/2010/main" val="936041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 [1776196025306]">
  <a:themeElements>
    <a:clrScheme name="Office">
      <a:dk1>
        <a:srgbClr val="1A1A2E"/>
      </a:dk1>
      <a:lt1>
        <a:srgbClr val="F4F6FA"/>
      </a:lt1>
      <a:dk2>
        <a:srgbClr val="16213E"/>
      </a:dk2>
      <a:lt2>
        <a:srgbClr val="E8EDF5"/>
      </a:lt2>
      <a:accent1>
        <a:srgbClr val="E94560"/>
      </a:accent1>
      <a:accent2>
        <a:srgbClr val="0F3460"/>
      </a:accent2>
      <a:accent3>
        <a:srgbClr val="533483"/>
      </a:accent3>
      <a:accent4>
        <a:srgbClr val="F5A623"/>
      </a:accent4>
      <a:accent5>
        <a:srgbClr val="2ECC71"/>
      </a:accent5>
      <a:accent6>
        <a:srgbClr val="3498DB"/>
      </a:accent6>
      <a:hlink>
        <a:srgbClr val="467886"/>
      </a:hlink>
      <a:folHlink>
        <a:srgbClr val="96607D"/>
      </a:folHlink>
    </a:clrScheme>
    <a:fontScheme name="Offic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31A7EA6-6ECB-194F-B07E-AEDDD319B6CD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bcd42905-7aca-48d0-a946-bee513c2a74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1037</Words>
  <Application>Microsoft Macintosh PowerPoint</Application>
  <PresentationFormat>Widescreen</PresentationFormat>
  <Paragraphs>234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Montserrat</vt:lpstr>
      <vt:lpstr>Open Sans</vt:lpstr>
      <vt:lpstr>Office Theme</vt:lpstr>
      <vt:lpstr>Office Theme [1776196025306]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Cordeiro, Anson</dc:creator>
  <cp:lastModifiedBy>Cordeiro, Anson</cp:lastModifiedBy>
  <cp:revision>2</cp:revision>
  <dcterms:created xsi:type="dcterms:W3CDTF">2026-04-14T19:33:49Z</dcterms:created>
  <dcterms:modified xsi:type="dcterms:W3CDTF">2026-04-14T20:05:10Z</dcterms:modified>
</cp:coreProperties>
</file>